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401" r:id="rId3"/>
    <p:sldId id="420" r:id="rId4"/>
    <p:sldId id="421" r:id="rId5"/>
    <p:sldId id="423" r:id="rId6"/>
    <p:sldId id="422" r:id="rId7"/>
    <p:sldId id="424" r:id="rId8"/>
    <p:sldId id="428" r:id="rId9"/>
    <p:sldId id="429" r:id="rId10"/>
    <p:sldId id="430" r:id="rId11"/>
    <p:sldId id="431" r:id="rId12"/>
    <p:sldId id="433" r:id="rId13"/>
    <p:sldId id="434" r:id="rId14"/>
    <p:sldId id="436" r:id="rId15"/>
    <p:sldId id="435" r:id="rId16"/>
    <p:sldId id="437" r:id="rId17"/>
    <p:sldId id="438" r:id="rId18"/>
    <p:sldId id="439" r:id="rId19"/>
    <p:sldId id="441" r:id="rId20"/>
    <p:sldId id="440" r:id="rId21"/>
    <p:sldId id="442" r:id="rId22"/>
    <p:sldId id="445" r:id="rId23"/>
    <p:sldId id="443" r:id="rId24"/>
    <p:sldId id="444" r:id="rId25"/>
    <p:sldId id="447" r:id="rId26"/>
    <p:sldId id="448" r:id="rId27"/>
    <p:sldId id="449" r:id="rId28"/>
    <p:sldId id="452" r:id="rId29"/>
    <p:sldId id="451" r:id="rId30"/>
    <p:sldId id="453" r:id="rId31"/>
    <p:sldId id="454" r:id="rId32"/>
    <p:sldId id="426" r:id="rId33"/>
    <p:sldId id="425" r:id="rId34"/>
    <p:sldId id="446" r:id="rId35"/>
    <p:sldId id="427" r:id="rId3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talia" initials="N" lastIdx="1" clrIdx="0">
    <p:extLst>
      <p:ext uri="{19B8F6BF-5375-455C-9EA6-DF929625EA0E}">
        <p15:presenceInfo xmlns:p15="http://schemas.microsoft.com/office/powerpoint/2012/main" userId="Natal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96" autoAdjust="0"/>
    <p:restoredTop sz="94660"/>
  </p:normalViewPr>
  <p:slideViewPr>
    <p:cSldViewPr snapToGrid="0">
      <p:cViewPr varScale="1">
        <p:scale>
          <a:sx n="62" d="100"/>
          <a:sy n="62" d="100"/>
        </p:scale>
        <p:origin x="880" y="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54F026-3130-4C4C-ABCB-2630090194D3}" type="datetimeFigureOut">
              <a:rPr lang="ru-RU" smtClean="0"/>
              <a:pPr/>
              <a:t>17.09.2025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F92A01-B0EC-40B1-93C7-9119F54A7F5E}" type="slidenum">
              <a:rPr lang="ru-RU" smtClean="0"/>
              <a:pPr/>
              <a:t>‹#›</a:t>
            </a:fld>
            <a:endParaRPr lang="ru-RU"/>
          </a:p>
        </p:txBody>
      </p:sp>
    </p:spTree>
    <p:extLst>
      <p:ext uri="{BB962C8B-B14F-4D97-AF65-F5344CB8AC3E}">
        <p14:creationId xmlns:p14="http://schemas.microsoft.com/office/powerpoint/2010/main" val="1159998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287688" y="689142"/>
            <a:ext cx="8496944" cy="1470025"/>
          </a:xfrm>
        </p:spPr>
        <p:txBody>
          <a:bodyPr/>
          <a:lstStyle>
            <a:lvl1pPr>
              <a:defRPr>
                <a:solidFill>
                  <a:srgbClr val="2D3588"/>
                </a:solidFill>
              </a:defRPr>
            </a:lvl1pPr>
          </a:lstStyle>
          <a:p>
            <a:r>
              <a:rPr lang="ru-RU"/>
              <a:t>Образец заголовка</a:t>
            </a:r>
          </a:p>
        </p:txBody>
      </p:sp>
      <p:sp>
        <p:nvSpPr>
          <p:cNvPr id="3" name="Подзаголовок 2"/>
          <p:cNvSpPr>
            <a:spLocks noGrp="1"/>
          </p:cNvSpPr>
          <p:nvPr>
            <p:ph type="subTitle" idx="1"/>
          </p:nvPr>
        </p:nvSpPr>
        <p:spPr>
          <a:xfrm>
            <a:off x="3287688" y="3886200"/>
            <a:ext cx="8496944" cy="1752600"/>
          </a:xfrm>
        </p:spPr>
        <p:txBody>
          <a:bodyPr/>
          <a:lstStyle>
            <a:lvl1pPr marL="0" indent="0" algn="ctr">
              <a:buNone/>
              <a:defRPr>
                <a:solidFill>
                  <a:srgbClr val="387FA8"/>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ru-RU" dirty="0"/>
              <a:t>Образец подзаголовка</a:t>
            </a:r>
          </a:p>
        </p:txBody>
      </p:sp>
      <p:sp>
        <p:nvSpPr>
          <p:cNvPr id="4" name="Дата 3"/>
          <p:cNvSpPr>
            <a:spLocks noGrp="1"/>
          </p:cNvSpPr>
          <p:nvPr>
            <p:ph type="dt" sz="half" idx="10"/>
          </p:nvPr>
        </p:nvSpPr>
        <p:spPr>
          <a:xfrm>
            <a:off x="3820356" y="6356355"/>
            <a:ext cx="2844800" cy="365125"/>
          </a:xfrm>
        </p:spPr>
        <p:txBody>
          <a:bodyPr/>
          <a:lstStyle/>
          <a:p>
            <a:fld id="{A96E3A67-1329-4970-AF3F-3986350B0A7B}" type="datetime1">
              <a:rPr lang="ru-RU" smtClean="0"/>
              <a:pPr/>
              <a:t>17.09.2025</a:t>
            </a:fld>
            <a:endParaRPr lang="ru-RU"/>
          </a:p>
        </p:txBody>
      </p:sp>
      <p:sp>
        <p:nvSpPr>
          <p:cNvPr id="5" name="Нижний колонтитул 4"/>
          <p:cNvSpPr>
            <a:spLocks noGrp="1"/>
          </p:cNvSpPr>
          <p:nvPr>
            <p:ph type="ftr" sz="quarter" idx="11"/>
          </p:nvPr>
        </p:nvSpPr>
        <p:spPr>
          <a:xfrm>
            <a:off x="6816080" y="6361147"/>
            <a:ext cx="3082528" cy="365125"/>
          </a:xfrm>
        </p:spPr>
        <p:txBody>
          <a:bodyPr/>
          <a:lstStyle/>
          <a:p>
            <a:endParaRPr lang="ru-RU" dirty="0"/>
          </a:p>
        </p:txBody>
      </p:sp>
      <p:sp>
        <p:nvSpPr>
          <p:cNvPr id="6" name="Номер слайда 5"/>
          <p:cNvSpPr>
            <a:spLocks noGrp="1"/>
          </p:cNvSpPr>
          <p:nvPr>
            <p:ph type="sldNum" sz="quarter" idx="12"/>
          </p:nvPr>
        </p:nvSpPr>
        <p:spPr>
          <a:xfrm>
            <a:off x="10200456" y="6356355"/>
            <a:ext cx="1381944" cy="365125"/>
          </a:xfrm>
        </p:spPr>
        <p:txBody>
          <a:bodyPr/>
          <a:lstStyle/>
          <a:p>
            <a:fld id="{1839304A-9F6B-422B-83C1-DE52774CBED0}" type="slidenum">
              <a:rPr lang="ru-RU" smtClean="0"/>
              <a:pPr/>
              <a:t>‹#›</a:t>
            </a:fld>
            <a:endParaRPr lang="ru-RU"/>
          </a:p>
        </p:txBody>
      </p:sp>
      <p:sp>
        <p:nvSpPr>
          <p:cNvPr id="7" name="Прямоугольник 6">
            <a:extLst>
              <a:ext uri="{FF2B5EF4-FFF2-40B4-BE49-F238E27FC236}">
                <a16:creationId xmlns:a16="http://schemas.microsoft.com/office/drawing/2014/main" id="{0E2DB5A5-7FF6-4988-A7FD-0023ED0356F9}"/>
              </a:ext>
            </a:extLst>
          </p:cNvPr>
          <p:cNvSpPr/>
          <p:nvPr userDrawn="1"/>
        </p:nvSpPr>
        <p:spPr>
          <a:xfrm rot="10800000" flipV="1">
            <a:off x="0" y="811"/>
            <a:ext cx="2844800" cy="6858000"/>
          </a:xfrm>
          <a:prstGeom prst="rect">
            <a:avLst/>
          </a:prstGeom>
          <a:gradFill flip="none" rotWithShape="1">
            <a:gsLst>
              <a:gs pos="0">
                <a:srgbClr val="91BE35"/>
              </a:gs>
              <a:gs pos="46000">
                <a:srgbClr val="448AA3"/>
              </a:gs>
              <a:gs pos="68000">
                <a:srgbClr val="2069B1"/>
              </a:gs>
              <a:gs pos="100000">
                <a:srgbClr val="2E338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8" name="Рисунок 7">
            <a:extLst>
              <a:ext uri="{FF2B5EF4-FFF2-40B4-BE49-F238E27FC236}">
                <a16:creationId xmlns:a16="http://schemas.microsoft.com/office/drawing/2014/main" id="{F9473900-A08A-4264-BFA6-19480E2615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09600" y="5085372"/>
            <a:ext cx="1402928" cy="1301815"/>
          </a:xfrm>
          <a:prstGeom prst="rect">
            <a:avLst/>
          </a:prstGeom>
        </p:spPr>
      </p:pic>
      <p:pic>
        <p:nvPicPr>
          <p:cNvPr id="9" name="Рисунок 8">
            <a:extLst>
              <a:ext uri="{FF2B5EF4-FFF2-40B4-BE49-F238E27FC236}">
                <a16:creationId xmlns:a16="http://schemas.microsoft.com/office/drawing/2014/main" id="{58DE6CC5-A174-4732-8B8C-B6108ECDC31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3667" y="424699"/>
            <a:ext cx="2210909" cy="999452"/>
          </a:xfrm>
          <a:prstGeom prst="rect">
            <a:avLst/>
          </a:prstGeom>
        </p:spPr>
      </p:pic>
    </p:spTree>
    <p:extLst>
      <p:ext uri="{BB962C8B-B14F-4D97-AF65-F5344CB8AC3E}">
        <p14:creationId xmlns:p14="http://schemas.microsoft.com/office/powerpoint/2010/main" val="2175410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4259" y="193741"/>
            <a:ext cx="9922223" cy="874363"/>
          </a:xfrm>
        </p:spPr>
        <p:txBody>
          <a:bodyPr>
            <a:normAutofit/>
          </a:bodyPr>
          <a:lstStyle>
            <a:lvl1pPr algn="l">
              <a:defRPr sz="2400">
                <a:solidFill>
                  <a:srgbClr val="2F195E"/>
                </a:solidFill>
              </a:defRPr>
            </a:lvl1pPr>
          </a:lstStyle>
          <a:p>
            <a:r>
              <a:rPr lang="ru-RU"/>
              <a:t>Образец заголовка</a:t>
            </a:r>
          </a:p>
        </p:txBody>
      </p:sp>
      <p:sp>
        <p:nvSpPr>
          <p:cNvPr id="3" name="Содержимое 2"/>
          <p:cNvSpPr>
            <a:spLocks noGrp="1"/>
          </p:cNvSpPr>
          <p:nvPr>
            <p:ph idx="1"/>
          </p:nvPr>
        </p:nvSpPr>
        <p:spPr>
          <a:xfrm>
            <a:off x="494259" y="1272541"/>
            <a:ext cx="11381631" cy="485362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494257" y="6356352"/>
            <a:ext cx="2844800" cy="365125"/>
          </a:xfrm>
        </p:spPr>
        <p:txBody>
          <a:bodyPr/>
          <a:lstStyle/>
          <a:p>
            <a:fld id="{38CE367C-3AAA-4392-98BC-8E9817D767FF}" type="datetime1">
              <a:rPr lang="ru-RU" smtClean="0"/>
              <a:pPr/>
              <a:t>17.09.2025</a:t>
            </a:fld>
            <a:endParaRPr lang="ru-RU"/>
          </a:p>
        </p:txBody>
      </p:sp>
      <p:sp>
        <p:nvSpPr>
          <p:cNvPr id="5" name="Нижний колонтитул 4"/>
          <p:cNvSpPr>
            <a:spLocks noGrp="1"/>
          </p:cNvSpPr>
          <p:nvPr>
            <p:ph type="ftr" sz="quarter" idx="11"/>
          </p:nvPr>
        </p:nvSpPr>
        <p:spPr>
          <a:xfrm>
            <a:off x="4254672" y="6356355"/>
            <a:ext cx="3860800" cy="365125"/>
          </a:xfrm>
        </p:spPr>
        <p:txBody>
          <a:bodyPr/>
          <a:lstStyle/>
          <a:p>
            <a:endParaRPr lang="ru-RU"/>
          </a:p>
        </p:txBody>
      </p:sp>
      <p:sp>
        <p:nvSpPr>
          <p:cNvPr id="6" name="Номер слайда 5"/>
          <p:cNvSpPr>
            <a:spLocks noGrp="1"/>
          </p:cNvSpPr>
          <p:nvPr>
            <p:ph type="sldNum" sz="quarter" idx="12"/>
          </p:nvPr>
        </p:nvSpPr>
        <p:spPr>
          <a:xfrm>
            <a:off x="9031088" y="6356353"/>
            <a:ext cx="2844800" cy="365125"/>
          </a:xfrm>
        </p:spPr>
        <p:txBody>
          <a:bodyPr/>
          <a:lstStyle/>
          <a:p>
            <a:fld id="{1839304A-9F6B-422B-83C1-DE52774CBED0}" type="slidenum">
              <a:rPr lang="ru-RU" smtClean="0"/>
              <a:pPr/>
              <a:t>‹#›</a:t>
            </a:fld>
            <a:endParaRPr lang="ru-RU"/>
          </a:p>
        </p:txBody>
      </p:sp>
      <p:sp>
        <p:nvSpPr>
          <p:cNvPr id="7" name="Нашивка 53">
            <a:extLst>
              <a:ext uri="{FF2B5EF4-FFF2-40B4-BE49-F238E27FC236}">
                <a16:creationId xmlns:a16="http://schemas.microsoft.com/office/drawing/2014/main" id="{2DF1E4F9-58B5-4F7E-A389-658843C78B50}"/>
              </a:ext>
            </a:extLst>
          </p:cNvPr>
          <p:cNvSpPr/>
          <p:nvPr userDrawn="1"/>
        </p:nvSpPr>
        <p:spPr>
          <a:xfrm>
            <a:off x="190128" y="270878"/>
            <a:ext cx="149797" cy="720080"/>
          </a:xfrm>
          <a:prstGeom prst="chevron">
            <a:avLst>
              <a:gd name="adj" fmla="val 73404"/>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
        <p:nvSpPr>
          <p:cNvPr id="8" name="Половина рамки 7">
            <a:extLst>
              <a:ext uri="{FF2B5EF4-FFF2-40B4-BE49-F238E27FC236}">
                <a16:creationId xmlns:a16="http://schemas.microsoft.com/office/drawing/2014/main" id="{2BF3DC61-5F38-4198-83B2-7D0F358795A4}"/>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pic>
        <p:nvPicPr>
          <p:cNvPr id="9" name="Рисунок 8" descr="иктиб презентация 2 СЛАЙД-02.jpg">
            <a:extLst>
              <a:ext uri="{FF2B5EF4-FFF2-40B4-BE49-F238E27FC236}">
                <a16:creationId xmlns:a16="http://schemas.microsoft.com/office/drawing/2014/main" id="{94F5FF42-8D82-428C-9B4E-498E1E526EE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27699" y="201270"/>
            <a:ext cx="360040" cy="859305"/>
          </a:xfrm>
          <a:prstGeom prst="rect">
            <a:avLst/>
          </a:prstGeom>
        </p:spPr>
      </p:pic>
      <p:pic>
        <p:nvPicPr>
          <p:cNvPr id="10" name="Рисунок 9" descr="Изображение выглядит как счетчик&#10;&#10;Автоматически созданное описание">
            <a:extLst>
              <a:ext uri="{FF2B5EF4-FFF2-40B4-BE49-F238E27FC236}">
                <a16:creationId xmlns:a16="http://schemas.microsoft.com/office/drawing/2014/main" id="{889B8CCE-ED89-4F84-A1A8-B7E3689EBFD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64552" y="258483"/>
            <a:ext cx="811336" cy="744879"/>
          </a:xfrm>
          <a:prstGeom prst="rect">
            <a:avLst/>
          </a:prstGeom>
        </p:spPr>
      </p:pic>
    </p:spTree>
    <p:extLst>
      <p:ext uri="{BB962C8B-B14F-4D97-AF65-F5344CB8AC3E}">
        <p14:creationId xmlns:p14="http://schemas.microsoft.com/office/powerpoint/2010/main" val="151851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3489028"/>
            <a:ext cx="10363200" cy="2388244"/>
          </a:xfrm>
        </p:spPr>
        <p:txBody>
          <a:bodyPr anchor="t">
            <a:normAutofit/>
          </a:bodyPr>
          <a:lstStyle>
            <a:lvl1pPr algn="l">
              <a:lnSpc>
                <a:spcPct val="85000"/>
              </a:lnSpc>
              <a:defRPr sz="4050" b="1" cap="none" baseline="0"/>
            </a:lvl1pPr>
          </a:lstStyle>
          <a:p>
            <a:r>
              <a:rPr lang="ru-RU" dirty="0"/>
              <a:t>Образец заголовка</a:t>
            </a:r>
          </a:p>
        </p:txBody>
      </p:sp>
      <p:sp>
        <p:nvSpPr>
          <p:cNvPr id="3" name="Текст 2"/>
          <p:cNvSpPr>
            <a:spLocks noGrp="1"/>
          </p:cNvSpPr>
          <p:nvPr>
            <p:ph type="body" idx="1"/>
          </p:nvPr>
        </p:nvSpPr>
        <p:spPr>
          <a:xfrm>
            <a:off x="963084" y="1749305"/>
            <a:ext cx="10363200" cy="1500187"/>
          </a:xfrm>
        </p:spPr>
        <p:txBody>
          <a:bodyPr anchor="b">
            <a:normAutofit/>
          </a:bodyPr>
          <a:lstStyle>
            <a:lvl1pPr marL="0" indent="0">
              <a:buNone/>
              <a:defRPr sz="24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a:t>Образец текста</a:t>
            </a:r>
          </a:p>
        </p:txBody>
      </p:sp>
      <p:sp>
        <p:nvSpPr>
          <p:cNvPr id="7" name="Половина рамки 6">
            <a:extLst>
              <a:ext uri="{FF2B5EF4-FFF2-40B4-BE49-F238E27FC236}">
                <a16:creationId xmlns:a16="http://schemas.microsoft.com/office/drawing/2014/main" id="{F1C2650A-52E5-4933-A8CA-F09035018E84}"/>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
        <p:nvSpPr>
          <p:cNvPr id="8" name="Дата 3">
            <a:extLst>
              <a:ext uri="{FF2B5EF4-FFF2-40B4-BE49-F238E27FC236}">
                <a16:creationId xmlns:a16="http://schemas.microsoft.com/office/drawing/2014/main" id="{84DF87AF-A91A-43E5-935F-B6FBE2CA374C}"/>
              </a:ext>
            </a:extLst>
          </p:cNvPr>
          <p:cNvSpPr>
            <a:spLocks noGrp="1"/>
          </p:cNvSpPr>
          <p:nvPr>
            <p:ph type="dt" sz="half" idx="10"/>
          </p:nvPr>
        </p:nvSpPr>
        <p:spPr>
          <a:xfrm>
            <a:off x="494257" y="6356352"/>
            <a:ext cx="2844800" cy="365125"/>
          </a:xfrm>
        </p:spPr>
        <p:txBody>
          <a:bodyPr/>
          <a:lstStyle/>
          <a:p>
            <a:fld id="{38CE367C-3AAA-4392-98BC-8E9817D767FF}" type="datetime1">
              <a:rPr lang="ru-RU" smtClean="0"/>
              <a:pPr/>
              <a:t>17.09.2025</a:t>
            </a:fld>
            <a:endParaRPr lang="ru-RU"/>
          </a:p>
        </p:txBody>
      </p:sp>
      <p:sp>
        <p:nvSpPr>
          <p:cNvPr id="9" name="Нижний колонтитул 4">
            <a:extLst>
              <a:ext uri="{FF2B5EF4-FFF2-40B4-BE49-F238E27FC236}">
                <a16:creationId xmlns:a16="http://schemas.microsoft.com/office/drawing/2014/main" id="{F876E9BB-5D19-442D-B052-BF15362216C2}"/>
              </a:ext>
            </a:extLst>
          </p:cNvPr>
          <p:cNvSpPr>
            <a:spLocks noGrp="1"/>
          </p:cNvSpPr>
          <p:nvPr>
            <p:ph type="ftr" sz="quarter" idx="11"/>
          </p:nvPr>
        </p:nvSpPr>
        <p:spPr>
          <a:xfrm>
            <a:off x="4254672" y="6356355"/>
            <a:ext cx="3860800" cy="365125"/>
          </a:xfrm>
        </p:spPr>
        <p:txBody>
          <a:bodyPr/>
          <a:lstStyle/>
          <a:p>
            <a:endParaRPr lang="ru-RU"/>
          </a:p>
        </p:txBody>
      </p:sp>
      <p:sp>
        <p:nvSpPr>
          <p:cNvPr id="10" name="Номер слайда 5">
            <a:extLst>
              <a:ext uri="{FF2B5EF4-FFF2-40B4-BE49-F238E27FC236}">
                <a16:creationId xmlns:a16="http://schemas.microsoft.com/office/drawing/2014/main" id="{C694CF1F-59A5-40E9-859A-B93E602258BE}"/>
              </a:ext>
            </a:extLst>
          </p:cNvPr>
          <p:cNvSpPr>
            <a:spLocks noGrp="1"/>
          </p:cNvSpPr>
          <p:nvPr>
            <p:ph type="sldNum" sz="quarter" idx="12"/>
          </p:nvPr>
        </p:nvSpPr>
        <p:spPr>
          <a:xfrm>
            <a:off x="9031088" y="6356353"/>
            <a:ext cx="2844800" cy="365125"/>
          </a:xfrm>
        </p:spPr>
        <p:txBody>
          <a:bodyPr/>
          <a:lstStyle/>
          <a:p>
            <a:fld id="{1839304A-9F6B-422B-83C1-DE52774CBED0}" type="slidenum">
              <a:rPr lang="ru-RU" smtClean="0"/>
              <a:pPr/>
              <a:t>‹#›</a:t>
            </a:fld>
            <a:endParaRPr lang="ru-RU"/>
          </a:p>
        </p:txBody>
      </p:sp>
    </p:spTree>
    <p:extLst>
      <p:ext uri="{BB962C8B-B14F-4D97-AF65-F5344CB8AC3E}">
        <p14:creationId xmlns:p14="http://schemas.microsoft.com/office/powerpoint/2010/main" val="2232740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3" name="Содержимое 2"/>
          <p:cNvSpPr>
            <a:spLocks noGrp="1"/>
          </p:cNvSpPr>
          <p:nvPr>
            <p:ph sz="half" idx="1"/>
          </p:nvPr>
        </p:nvSpPr>
        <p:spPr>
          <a:xfrm>
            <a:off x="494259" y="1329755"/>
            <a:ext cx="5500143" cy="479641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6197600" y="1329755"/>
            <a:ext cx="5678288" cy="479641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8" name="Нашивка 53">
            <a:extLst>
              <a:ext uri="{FF2B5EF4-FFF2-40B4-BE49-F238E27FC236}">
                <a16:creationId xmlns:a16="http://schemas.microsoft.com/office/drawing/2014/main" id="{3ACA853D-6EAA-48BB-A2D3-6E4B1ABCCBE1}"/>
              </a:ext>
            </a:extLst>
          </p:cNvPr>
          <p:cNvSpPr/>
          <p:nvPr userDrawn="1"/>
        </p:nvSpPr>
        <p:spPr>
          <a:xfrm>
            <a:off x="190128" y="270878"/>
            <a:ext cx="149797" cy="720080"/>
          </a:xfrm>
          <a:prstGeom prst="chevron">
            <a:avLst>
              <a:gd name="adj" fmla="val 73404"/>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
        <p:nvSpPr>
          <p:cNvPr id="9" name="Половина рамки 8">
            <a:extLst>
              <a:ext uri="{FF2B5EF4-FFF2-40B4-BE49-F238E27FC236}">
                <a16:creationId xmlns:a16="http://schemas.microsoft.com/office/drawing/2014/main" id="{43033968-8F2D-4418-B9AA-794F3C80C669}"/>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pic>
        <p:nvPicPr>
          <p:cNvPr id="10" name="Рисунок 9" descr="иктиб презентация 2 СЛАЙД-02.jpg">
            <a:extLst>
              <a:ext uri="{FF2B5EF4-FFF2-40B4-BE49-F238E27FC236}">
                <a16:creationId xmlns:a16="http://schemas.microsoft.com/office/drawing/2014/main" id="{C8AC36CC-EC05-4105-B265-D31B329C480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27699" y="201270"/>
            <a:ext cx="360040" cy="859305"/>
          </a:xfrm>
          <a:prstGeom prst="rect">
            <a:avLst/>
          </a:prstGeom>
        </p:spPr>
      </p:pic>
      <p:pic>
        <p:nvPicPr>
          <p:cNvPr id="11" name="Рисунок 10" descr="Изображение выглядит как счетчик&#10;&#10;Автоматически созданное описание">
            <a:extLst>
              <a:ext uri="{FF2B5EF4-FFF2-40B4-BE49-F238E27FC236}">
                <a16:creationId xmlns:a16="http://schemas.microsoft.com/office/drawing/2014/main" id="{183BD836-8036-439A-B1BF-429E34E9838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64552" y="258483"/>
            <a:ext cx="811336" cy="744879"/>
          </a:xfrm>
          <a:prstGeom prst="rect">
            <a:avLst/>
          </a:prstGeom>
        </p:spPr>
      </p:pic>
      <p:sp>
        <p:nvSpPr>
          <p:cNvPr id="12" name="Заголовок 1">
            <a:extLst>
              <a:ext uri="{FF2B5EF4-FFF2-40B4-BE49-F238E27FC236}">
                <a16:creationId xmlns:a16="http://schemas.microsoft.com/office/drawing/2014/main" id="{432E45F9-4790-472A-9722-B0DC930EA176}"/>
              </a:ext>
            </a:extLst>
          </p:cNvPr>
          <p:cNvSpPr>
            <a:spLocks noGrp="1"/>
          </p:cNvSpPr>
          <p:nvPr>
            <p:ph type="title"/>
          </p:nvPr>
        </p:nvSpPr>
        <p:spPr>
          <a:xfrm>
            <a:off x="494259" y="193741"/>
            <a:ext cx="9922223" cy="874363"/>
          </a:xfrm>
        </p:spPr>
        <p:txBody>
          <a:bodyPr>
            <a:normAutofit/>
          </a:bodyPr>
          <a:lstStyle>
            <a:lvl1pPr algn="l">
              <a:defRPr sz="2400">
                <a:solidFill>
                  <a:srgbClr val="2F195E"/>
                </a:solidFill>
              </a:defRPr>
            </a:lvl1pPr>
          </a:lstStyle>
          <a:p>
            <a:r>
              <a:rPr lang="ru-RU"/>
              <a:t>Образец заголовка</a:t>
            </a:r>
          </a:p>
        </p:txBody>
      </p:sp>
      <p:sp>
        <p:nvSpPr>
          <p:cNvPr id="13" name="Дата 3">
            <a:extLst>
              <a:ext uri="{FF2B5EF4-FFF2-40B4-BE49-F238E27FC236}">
                <a16:creationId xmlns:a16="http://schemas.microsoft.com/office/drawing/2014/main" id="{963C474E-9D5A-44D0-AFFF-51EAD440062E}"/>
              </a:ext>
            </a:extLst>
          </p:cNvPr>
          <p:cNvSpPr>
            <a:spLocks noGrp="1"/>
          </p:cNvSpPr>
          <p:nvPr>
            <p:ph type="dt" sz="half" idx="10"/>
          </p:nvPr>
        </p:nvSpPr>
        <p:spPr>
          <a:xfrm>
            <a:off x="494257" y="6356352"/>
            <a:ext cx="2844800" cy="365125"/>
          </a:xfrm>
        </p:spPr>
        <p:txBody>
          <a:bodyPr/>
          <a:lstStyle/>
          <a:p>
            <a:fld id="{38CE367C-3AAA-4392-98BC-8E9817D767FF}" type="datetime1">
              <a:rPr lang="ru-RU" smtClean="0"/>
              <a:pPr/>
              <a:t>17.09.2025</a:t>
            </a:fld>
            <a:endParaRPr lang="ru-RU"/>
          </a:p>
        </p:txBody>
      </p:sp>
      <p:sp>
        <p:nvSpPr>
          <p:cNvPr id="14" name="Нижний колонтитул 4">
            <a:extLst>
              <a:ext uri="{FF2B5EF4-FFF2-40B4-BE49-F238E27FC236}">
                <a16:creationId xmlns:a16="http://schemas.microsoft.com/office/drawing/2014/main" id="{B00F235B-82F3-4FB1-B99C-E8D685455299}"/>
              </a:ext>
            </a:extLst>
          </p:cNvPr>
          <p:cNvSpPr>
            <a:spLocks noGrp="1"/>
          </p:cNvSpPr>
          <p:nvPr>
            <p:ph type="ftr" sz="quarter" idx="11"/>
          </p:nvPr>
        </p:nvSpPr>
        <p:spPr>
          <a:xfrm>
            <a:off x="4254672" y="6356355"/>
            <a:ext cx="3860800" cy="365125"/>
          </a:xfrm>
        </p:spPr>
        <p:txBody>
          <a:bodyPr/>
          <a:lstStyle/>
          <a:p>
            <a:endParaRPr lang="ru-RU"/>
          </a:p>
        </p:txBody>
      </p:sp>
      <p:sp>
        <p:nvSpPr>
          <p:cNvPr id="15" name="Номер слайда 5">
            <a:extLst>
              <a:ext uri="{FF2B5EF4-FFF2-40B4-BE49-F238E27FC236}">
                <a16:creationId xmlns:a16="http://schemas.microsoft.com/office/drawing/2014/main" id="{1999387B-9157-478E-B396-871501995B83}"/>
              </a:ext>
            </a:extLst>
          </p:cNvPr>
          <p:cNvSpPr>
            <a:spLocks noGrp="1"/>
          </p:cNvSpPr>
          <p:nvPr>
            <p:ph type="sldNum" sz="quarter" idx="12"/>
          </p:nvPr>
        </p:nvSpPr>
        <p:spPr>
          <a:xfrm>
            <a:off x="9031088" y="6356353"/>
            <a:ext cx="2844800" cy="365125"/>
          </a:xfrm>
        </p:spPr>
        <p:txBody>
          <a:bodyPr/>
          <a:lstStyle/>
          <a:p>
            <a:fld id="{1839304A-9F6B-422B-83C1-DE52774CBED0}" type="slidenum">
              <a:rPr lang="ru-RU" smtClean="0"/>
              <a:pPr/>
              <a:t>‹#›</a:t>
            </a:fld>
            <a:endParaRPr lang="ru-RU"/>
          </a:p>
        </p:txBody>
      </p:sp>
    </p:spTree>
    <p:extLst>
      <p:ext uri="{BB962C8B-B14F-4D97-AF65-F5344CB8AC3E}">
        <p14:creationId xmlns:p14="http://schemas.microsoft.com/office/powerpoint/2010/main" val="2871740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3" name="Текст 2"/>
          <p:cNvSpPr>
            <a:spLocks noGrp="1"/>
          </p:cNvSpPr>
          <p:nvPr>
            <p:ph type="body" idx="1"/>
          </p:nvPr>
        </p:nvSpPr>
        <p:spPr>
          <a:xfrm>
            <a:off x="494259" y="1329754"/>
            <a:ext cx="5502260"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Содержимое 3"/>
          <p:cNvSpPr>
            <a:spLocks noGrp="1"/>
          </p:cNvSpPr>
          <p:nvPr>
            <p:ph sz="half" idx="2"/>
          </p:nvPr>
        </p:nvSpPr>
        <p:spPr>
          <a:xfrm>
            <a:off x="494259" y="1969520"/>
            <a:ext cx="5502260" cy="4156647"/>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93367" y="1329754"/>
            <a:ext cx="5682520"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Содержимое 5"/>
          <p:cNvSpPr>
            <a:spLocks noGrp="1"/>
          </p:cNvSpPr>
          <p:nvPr>
            <p:ph sz="quarter" idx="4"/>
          </p:nvPr>
        </p:nvSpPr>
        <p:spPr>
          <a:xfrm>
            <a:off x="6193368" y="1969520"/>
            <a:ext cx="5682520" cy="4156647"/>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3" name="Нашивка 53">
            <a:extLst>
              <a:ext uri="{FF2B5EF4-FFF2-40B4-BE49-F238E27FC236}">
                <a16:creationId xmlns:a16="http://schemas.microsoft.com/office/drawing/2014/main" id="{654B7B89-B1FB-477F-A862-4EE2CAD0D9EC}"/>
              </a:ext>
            </a:extLst>
          </p:cNvPr>
          <p:cNvSpPr/>
          <p:nvPr userDrawn="1"/>
        </p:nvSpPr>
        <p:spPr>
          <a:xfrm>
            <a:off x="190128" y="270878"/>
            <a:ext cx="149797" cy="720080"/>
          </a:xfrm>
          <a:prstGeom prst="chevron">
            <a:avLst>
              <a:gd name="adj" fmla="val 73404"/>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
        <p:nvSpPr>
          <p:cNvPr id="14" name="Половина рамки 13">
            <a:extLst>
              <a:ext uri="{FF2B5EF4-FFF2-40B4-BE49-F238E27FC236}">
                <a16:creationId xmlns:a16="http://schemas.microsoft.com/office/drawing/2014/main" id="{7A2F9163-67D3-4422-B788-C36F6D2FAE7C}"/>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pic>
        <p:nvPicPr>
          <p:cNvPr id="15" name="Рисунок 14" descr="иктиб презентация 2 СЛАЙД-02.jpg">
            <a:extLst>
              <a:ext uri="{FF2B5EF4-FFF2-40B4-BE49-F238E27FC236}">
                <a16:creationId xmlns:a16="http://schemas.microsoft.com/office/drawing/2014/main" id="{EFD6E133-A6C5-4548-99AB-DB651D7FAF6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27699" y="201270"/>
            <a:ext cx="360040" cy="859305"/>
          </a:xfrm>
          <a:prstGeom prst="rect">
            <a:avLst/>
          </a:prstGeom>
        </p:spPr>
      </p:pic>
      <p:pic>
        <p:nvPicPr>
          <p:cNvPr id="16" name="Рисунок 15" descr="Изображение выглядит как счетчик&#10;&#10;Автоматически созданное описание">
            <a:extLst>
              <a:ext uri="{FF2B5EF4-FFF2-40B4-BE49-F238E27FC236}">
                <a16:creationId xmlns:a16="http://schemas.microsoft.com/office/drawing/2014/main" id="{355C2536-0C43-4417-BDAD-93C0EE5B410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64552" y="258483"/>
            <a:ext cx="811336" cy="744879"/>
          </a:xfrm>
          <a:prstGeom prst="rect">
            <a:avLst/>
          </a:prstGeom>
        </p:spPr>
      </p:pic>
      <p:sp>
        <p:nvSpPr>
          <p:cNvPr id="17" name="Заголовок 1">
            <a:extLst>
              <a:ext uri="{FF2B5EF4-FFF2-40B4-BE49-F238E27FC236}">
                <a16:creationId xmlns:a16="http://schemas.microsoft.com/office/drawing/2014/main" id="{0D056A40-5206-418F-83A9-AFEAEAAC99A7}"/>
              </a:ext>
            </a:extLst>
          </p:cNvPr>
          <p:cNvSpPr>
            <a:spLocks noGrp="1"/>
          </p:cNvSpPr>
          <p:nvPr>
            <p:ph type="title"/>
          </p:nvPr>
        </p:nvSpPr>
        <p:spPr>
          <a:xfrm>
            <a:off x="494259" y="193741"/>
            <a:ext cx="9922223" cy="874363"/>
          </a:xfrm>
        </p:spPr>
        <p:txBody>
          <a:bodyPr>
            <a:normAutofit/>
          </a:bodyPr>
          <a:lstStyle>
            <a:lvl1pPr algn="l">
              <a:defRPr sz="2400">
                <a:solidFill>
                  <a:srgbClr val="2F195E"/>
                </a:solidFill>
              </a:defRPr>
            </a:lvl1pPr>
          </a:lstStyle>
          <a:p>
            <a:r>
              <a:rPr lang="ru-RU"/>
              <a:t>Образец заголовка</a:t>
            </a:r>
          </a:p>
        </p:txBody>
      </p:sp>
      <p:sp>
        <p:nvSpPr>
          <p:cNvPr id="18" name="Дата 3">
            <a:extLst>
              <a:ext uri="{FF2B5EF4-FFF2-40B4-BE49-F238E27FC236}">
                <a16:creationId xmlns:a16="http://schemas.microsoft.com/office/drawing/2014/main" id="{5B2DCD84-3B5A-4118-95FE-A47DE86DAED9}"/>
              </a:ext>
            </a:extLst>
          </p:cNvPr>
          <p:cNvSpPr>
            <a:spLocks noGrp="1"/>
          </p:cNvSpPr>
          <p:nvPr>
            <p:ph type="dt" sz="half" idx="10"/>
          </p:nvPr>
        </p:nvSpPr>
        <p:spPr>
          <a:xfrm>
            <a:off x="494257" y="6356352"/>
            <a:ext cx="2844800" cy="365125"/>
          </a:xfrm>
        </p:spPr>
        <p:txBody>
          <a:bodyPr/>
          <a:lstStyle/>
          <a:p>
            <a:fld id="{38CE367C-3AAA-4392-98BC-8E9817D767FF}" type="datetime1">
              <a:rPr lang="ru-RU" smtClean="0"/>
              <a:pPr/>
              <a:t>17.09.2025</a:t>
            </a:fld>
            <a:endParaRPr lang="ru-RU"/>
          </a:p>
        </p:txBody>
      </p:sp>
      <p:sp>
        <p:nvSpPr>
          <p:cNvPr id="19" name="Нижний колонтитул 4">
            <a:extLst>
              <a:ext uri="{FF2B5EF4-FFF2-40B4-BE49-F238E27FC236}">
                <a16:creationId xmlns:a16="http://schemas.microsoft.com/office/drawing/2014/main" id="{7D485B18-9A52-4887-9273-7A4317D83C5A}"/>
              </a:ext>
            </a:extLst>
          </p:cNvPr>
          <p:cNvSpPr>
            <a:spLocks noGrp="1"/>
          </p:cNvSpPr>
          <p:nvPr>
            <p:ph type="ftr" sz="quarter" idx="11"/>
          </p:nvPr>
        </p:nvSpPr>
        <p:spPr>
          <a:xfrm>
            <a:off x="4254672" y="6356355"/>
            <a:ext cx="3860800" cy="365125"/>
          </a:xfrm>
        </p:spPr>
        <p:txBody>
          <a:bodyPr/>
          <a:lstStyle/>
          <a:p>
            <a:endParaRPr lang="ru-RU"/>
          </a:p>
        </p:txBody>
      </p:sp>
      <p:sp>
        <p:nvSpPr>
          <p:cNvPr id="20" name="Номер слайда 5">
            <a:extLst>
              <a:ext uri="{FF2B5EF4-FFF2-40B4-BE49-F238E27FC236}">
                <a16:creationId xmlns:a16="http://schemas.microsoft.com/office/drawing/2014/main" id="{34A0954E-7426-4665-BD28-F4050C23C8BE}"/>
              </a:ext>
            </a:extLst>
          </p:cNvPr>
          <p:cNvSpPr>
            <a:spLocks noGrp="1"/>
          </p:cNvSpPr>
          <p:nvPr>
            <p:ph type="sldNum" sz="quarter" idx="12"/>
          </p:nvPr>
        </p:nvSpPr>
        <p:spPr>
          <a:xfrm>
            <a:off x="9031088" y="6356353"/>
            <a:ext cx="2844800" cy="365125"/>
          </a:xfrm>
        </p:spPr>
        <p:txBody>
          <a:bodyPr/>
          <a:lstStyle/>
          <a:p>
            <a:fld id="{1839304A-9F6B-422B-83C1-DE52774CBED0}" type="slidenum">
              <a:rPr lang="ru-RU" smtClean="0"/>
              <a:pPr/>
              <a:t>‹#›</a:t>
            </a:fld>
            <a:endParaRPr lang="ru-RU"/>
          </a:p>
        </p:txBody>
      </p:sp>
    </p:spTree>
    <p:extLst>
      <p:ext uri="{BB962C8B-B14F-4D97-AF65-F5344CB8AC3E}">
        <p14:creationId xmlns:p14="http://schemas.microsoft.com/office/powerpoint/2010/main" val="1974074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9" name="Нашивка 53">
            <a:extLst>
              <a:ext uri="{FF2B5EF4-FFF2-40B4-BE49-F238E27FC236}">
                <a16:creationId xmlns:a16="http://schemas.microsoft.com/office/drawing/2014/main" id="{74A59F8A-EC75-489C-A68F-5F69E7626713}"/>
              </a:ext>
            </a:extLst>
          </p:cNvPr>
          <p:cNvSpPr/>
          <p:nvPr userDrawn="1"/>
        </p:nvSpPr>
        <p:spPr>
          <a:xfrm>
            <a:off x="190128" y="270878"/>
            <a:ext cx="149797" cy="720080"/>
          </a:xfrm>
          <a:prstGeom prst="chevron">
            <a:avLst>
              <a:gd name="adj" fmla="val 73404"/>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
        <p:nvSpPr>
          <p:cNvPr id="10" name="Половина рамки 9">
            <a:extLst>
              <a:ext uri="{FF2B5EF4-FFF2-40B4-BE49-F238E27FC236}">
                <a16:creationId xmlns:a16="http://schemas.microsoft.com/office/drawing/2014/main" id="{CFE08856-0084-487B-A6F4-E169DB1004F7}"/>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pic>
        <p:nvPicPr>
          <p:cNvPr id="11" name="Рисунок 10" descr="иктиб презентация 2 СЛАЙД-02.jpg">
            <a:extLst>
              <a:ext uri="{FF2B5EF4-FFF2-40B4-BE49-F238E27FC236}">
                <a16:creationId xmlns:a16="http://schemas.microsoft.com/office/drawing/2014/main" id="{0FA8A71E-77A6-4E5E-B52E-55BCE57B37A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27699" y="201270"/>
            <a:ext cx="360040" cy="859305"/>
          </a:xfrm>
          <a:prstGeom prst="rect">
            <a:avLst/>
          </a:prstGeom>
        </p:spPr>
      </p:pic>
      <p:pic>
        <p:nvPicPr>
          <p:cNvPr id="12" name="Рисунок 11" descr="Изображение выглядит как счетчик&#10;&#10;Автоматически созданное описание">
            <a:extLst>
              <a:ext uri="{FF2B5EF4-FFF2-40B4-BE49-F238E27FC236}">
                <a16:creationId xmlns:a16="http://schemas.microsoft.com/office/drawing/2014/main" id="{BC35EE28-6CC7-41BB-A18C-1B12526CB92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64552" y="258483"/>
            <a:ext cx="811336" cy="744879"/>
          </a:xfrm>
          <a:prstGeom prst="rect">
            <a:avLst/>
          </a:prstGeom>
        </p:spPr>
      </p:pic>
      <p:sp>
        <p:nvSpPr>
          <p:cNvPr id="13" name="Заголовок 1">
            <a:extLst>
              <a:ext uri="{FF2B5EF4-FFF2-40B4-BE49-F238E27FC236}">
                <a16:creationId xmlns:a16="http://schemas.microsoft.com/office/drawing/2014/main" id="{131AEE5F-D323-4B62-B9B0-4E4733D8FB79}"/>
              </a:ext>
            </a:extLst>
          </p:cNvPr>
          <p:cNvSpPr>
            <a:spLocks noGrp="1"/>
          </p:cNvSpPr>
          <p:nvPr>
            <p:ph type="title"/>
          </p:nvPr>
        </p:nvSpPr>
        <p:spPr>
          <a:xfrm>
            <a:off x="494259" y="193741"/>
            <a:ext cx="9922223" cy="874363"/>
          </a:xfrm>
        </p:spPr>
        <p:txBody>
          <a:bodyPr>
            <a:normAutofit/>
          </a:bodyPr>
          <a:lstStyle>
            <a:lvl1pPr algn="l">
              <a:defRPr sz="2400">
                <a:solidFill>
                  <a:srgbClr val="2F195E"/>
                </a:solidFill>
              </a:defRPr>
            </a:lvl1pPr>
          </a:lstStyle>
          <a:p>
            <a:r>
              <a:rPr lang="ru-RU"/>
              <a:t>Образец заголовка</a:t>
            </a:r>
          </a:p>
        </p:txBody>
      </p:sp>
      <p:sp>
        <p:nvSpPr>
          <p:cNvPr id="14" name="Дата 3">
            <a:extLst>
              <a:ext uri="{FF2B5EF4-FFF2-40B4-BE49-F238E27FC236}">
                <a16:creationId xmlns:a16="http://schemas.microsoft.com/office/drawing/2014/main" id="{7A80361F-4239-43E6-99EE-2BD74176AFAD}"/>
              </a:ext>
            </a:extLst>
          </p:cNvPr>
          <p:cNvSpPr>
            <a:spLocks noGrp="1"/>
          </p:cNvSpPr>
          <p:nvPr>
            <p:ph type="dt" sz="half" idx="10"/>
          </p:nvPr>
        </p:nvSpPr>
        <p:spPr>
          <a:xfrm>
            <a:off x="494257" y="6356352"/>
            <a:ext cx="2844800" cy="365125"/>
          </a:xfrm>
        </p:spPr>
        <p:txBody>
          <a:bodyPr/>
          <a:lstStyle/>
          <a:p>
            <a:fld id="{38CE367C-3AAA-4392-98BC-8E9817D767FF}" type="datetime1">
              <a:rPr lang="ru-RU" smtClean="0"/>
              <a:pPr/>
              <a:t>17.09.2025</a:t>
            </a:fld>
            <a:endParaRPr lang="ru-RU"/>
          </a:p>
        </p:txBody>
      </p:sp>
      <p:sp>
        <p:nvSpPr>
          <p:cNvPr id="15" name="Нижний колонтитул 4">
            <a:extLst>
              <a:ext uri="{FF2B5EF4-FFF2-40B4-BE49-F238E27FC236}">
                <a16:creationId xmlns:a16="http://schemas.microsoft.com/office/drawing/2014/main" id="{8B9FC807-4C4C-409F-B51F-4349B2B57AAB}"/>
              </a:ext>
            </a:extLst>
          </p:cNvPr>
          <p:cNvSpPr>
            <a:spLocks noGrp="1"/>
          </p:cNvSpPr>
          <p:nvPr>
            <p:ph type="ftr" sz="quarter" idx="11"/>
          </p:nvPr>
        </p:nvSpPr>
        <p:spPr>
          <a:xfrm>
            <a:off x="4254672" y="6356355"/>
            <a:ext cx="3860800" cy="365125"/>
          </a:xfrm>
        </p:spPr>
        <p:txBody>
          <a:bodyPr/>
          <a:lstStyle/>
          <a:p>
            <a:endParaRPr lang="ru-RU"/>
          </a:p>
        </p:txBody>
      </p:sp>
      <p:sp>
        <p:nvSpPr>
          <p:cNvPr id="16" name="Номер слайда 5">
            <a:extLst>
              <a:ext uri="{FF2B5EF4-FFF2-40B4-BE49-F238E27FC236}">
                <a16:creationId xmlns:a16="http://schemas.microsoft.com/office/drawing/2014/main" id="{13B479FC-055D-46EE-9CEA-6EF3137C0E54}"/>
              </a:ext>
            </a:extLst>
          </p:cNvPr>
          <p:cNvSpPr>
            <a:spLocks noGrp="1"/>
          </p:cNvSpPr>
          <p:nvPr>
            <p:ph type="sldNum" sz="quarter" idx="12"/>
          </p:nvPr>
        </p:nvSpPr>
        <p:spPr>
          <a:xfrm>
            <a:off x="9031088" y="6356353"/>
            <a:ext cx="2844800" cy="365125"/>
          </a:xfrm>
        </p:spPr>
        <p:txBody>
          <a:bodyPr/>
          <a:lstStyle/>
          <a:p>
            <a:fld id="{1839304A-9F6B-422B-83C1-DE52774CBED0}" type="slidenum">
              <a:rPr lang="ru-RU" smtClean="0"/>
              <a:pPr/>
              <a:t>‹#›</a:t>
            </a:fld>
            <a:endParaRPr lang="ru-RU"/>
          </a:p>
        </p:txBody>
      </p:sp>
    </p:spTree>
    <p:extLst>
      <p:ext uri="{BB962C8B-B14F-4D97-AF65-F5344CB8AC3E}">
        <p14:creationId xmlns:p14="http://schemas.microsoft.com/office/powerpoint/2010/main" val="3225686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Половина рамки 4">
            <a:extLst>
              <a:ext uri="{FF2B5EF4-FFF2-40B4-BE49-F238E27FC236}">
                <a16:creationId xmlns:a16="http://schemas.microsoft.com/office/drawing/2014/main" id="{ADE25482-9755-41A7-AA59-0A9C02D73D09}"/>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
        <p:nvSpPr>
          <p:cNvPr id="6" name="Дата 3">
            <a:extLst>
              <a:ext uri="{FF2B5EF4-FFF2-40B4-BE49-F238E27FC236}">
                <a16:creationId xmlns:a16="http://schemas.microsoft.com/office/drawing/2014/main" id="{F699CBA9-AF57-4632-AE67-619958D9F7B4}"/>
              </a:ext>
            </a:extLst>
          </p:cNvPr>
          <p:cNvSpPr>
            <a:spLocks noGrp="1"/>
          </p:cNvSpPr>
          <p:nvPr>
            <p:ph type="dt" sz="half" idx="10"/>
          </p:nvPr>
        </p:nvSpPr>
        <p:spPr>
          <a:xfrm>
            <a:off x="494257" y="6356352"/>
            <a:ext cx="2844800" cy="365125"/>
          </a:xfrm>
        </p:spPr>
        <p:txBody>
          <a:bodyPr/>
          <a:lstStyle/>
          <a:p>
            <a:fld id="{38CE367C-3AAA-4392-98BC-8E9817D767FF}" type="datetime1">
              <a:rPr lang="ru-RU" smtClean="0"/>
              <a:pPr/>
              <a:t>17.09.2025</a:t>
            </a:fld>
            <a:endParaRPr lang="ru-RU"/>
          </a:p>
        </p:txBody>
      </p:sp>
      <p:sp>
        <p:nvSpPr>
          <p:cNvPr id="7" name="Нижний колонтитул 4">
            <a:extLst>
              <a:ext uri="{FF2B5EF4-FFF2-40B4-BE49-F238E27FC236}">
                <a16:creationId xmlns:a16="http://schemas.microsoft.com/office/drawing/2014/main" id="{0FF0757F-D440-48A9-9B46-E69E528EA4B8}"/>
              </a:ext>
            </a:extLst>
          </p:cNvPr>
          <p:cNvSpPr>
            <a:spLocks noGrp="1"/>
          </p:cNvSpPr>
          <p:nvPr>
            <p:ph type="ftr" sz="quarter" idx="11"/>
          </p:nvPr>
        </p:nvSpPr>
        <p:spPr>
          <a:xfrm>
            <a:off x="4254672" y="6356355"/>
            <a:ext cx="3860800" cy="365125"/>
          </a:xfrm>
        </p:spPr>
        <p:txBody>
          <a:bodyPr/>
          <a:lstStyle/>
          <a:p>
            <a:endParaRPr lang="ru-RU"/>
          </a:p>
        </p:txBody>
      </p:sp>
      <p:sp>
        <p:nvSpPr>
          <p:cNvPr id="8" name="Номер слайда 5">
            <a:extLst>
              <a:ext uri="{FF2B5EF4-FFF2-40B4-BE49-F238E27FC236}">
                <a16:creationId xmlns:a16="http://schemas.microsoft.com/office/drawing/2014/main" id="{936EEEB5-2D95-4B88-9707-4EC90DD07A54}"/>
              </a:ext>
            </a:extLst>
          </p:cNvPr>
          <p:cNvSpPr>
            <a:spLocks noGrp="1"/>
          </p:cNvSpPr>
          <p:nvPr>
            <p:ph type="sldNum" sz="quarter" idx="12"/>
          </p:nvPr>
        </p:nvSpPr>
        <p:spPr>
          <a:xfrm>
            <a:off x="9031088" y="6356353"/>
            <a:ext cx="2844800" cy="365125"/>
          </a:xfrm>
        </p:spPr>
        <p:txBody>
          <a:bodyPr/>
          <a:lstStyle/>
          <a:p>
            <a:fld id="{1839304A-9F6B-422B-83C1-DE52774CBED0}" type="slidenum">
              <a:rPr lang="ru-RU" smtClean="0"/>
              <a:pPr/>
              <a:t>‹#›</a:t>
            </a:fld>
            <a:endParaRPr lang="ru-RU"/>
          </a:p>
        </p:txBody>
      </p:sp>
    </p:spTree>
    <p:extLst>
      <p:ext uri="{BB962C8B-B14F-4D97-AF65-F5344CB8AC3E}">
        <p14:creationId xmlns:p14="http://schemas.microsoft.com/office/powerpoint/2010/main" val="3206978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3" y="273050"/>
            <a:ext cx="4011084" cy="1162050"/>
          </a:xfrm>
        </p:spPr>
        <p:txBody>
          <a:bodyPr anchor="b"/>
          <a:lstStyle>
            <a:lvl1pPr algn="l">
              <a:defRPr sz="1500" b="1"/>
            </a:lvl1pPr>
          </a:lstStyle>
          <a:p>
            <a:r>
              <a:rPr lang="ru-RU"/>
              <a:t>Образец заголовка</a:t>
            </a:r>
          </a:p>
        </p:txBody>
      </p:sp>
      <p:sp>
        <p:nvSpPr>
          <p:cNvPr id="3" name="Содержимое 2"/>
          <p:cNvSpPr>
            <a:spLocks noGrp="1"/>
          </p:cNvSpPr>
          <p:nvPr>
            <p:ph idx="1"/>
          </p:nvPr>
        </p:nvSpPr>
        <p:spPr>
          <a:xfrm>
            <a:off x="4766733" y="273055"/>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ru-RU"/>
              <a:t>Образец текста</a:t>
            </a:r>
          </a:p>
        </p:txBody>
      </p:sp>
      <p:sp>
        <p:nvSpPr>
          <p:cNvPr id="5" name="Дата 4"/>
          <p:cNvSpPr>
            <a:spLocks noGrp="1"/>
          </p:cNvSpPr>
          <p:nvPr>
            <p:ph type="dt" sz="half" idx="10"/>
          </p:nvPr>
        </p:nvSpPr>
        <p:spPr/>
        <p:txBody>
          <a:bodyPr/>
          <a:lstStyle/>
          <a:p>
            <a:fld id="{67C05E36-9A32-4C72-8A52-3E8B055D49B1}" type="datetime1">
              <a:rPr lang="ru-RU" smtClean="0"/>
              <a:pPr/>
              <a:t>17.09.2025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839304A-9F6B-422B-83C1-DE52774CBED0}" type="slidenum">
              <a:rPr lang="ru-RU" smtClean="0"/>
              <a:pPr/>
              <a:t>‹#›</a:t>
            </a:fld>
            <a:endParaRPr lang="ru-RU"/>
          </a:p>
        </p:txBody>
      </p:sp>
      <p:sp>
        <p:nvSpPr>
          <p:cNvPr id="8" name="Половина рамки 7">
            <a:extLst>
              <a:ext uri="{FF2B5EF4-FFF2-40B4-BE49-F238E27FC236}">
                <a16:creationId xmlns:a16="http://schemas.microsoft.com/office/drawing/2014/main" id="{0ECC8BD3-E225-4AF8-A290-636418AE5145}"/>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Tree>
    <p:extLst>
      <p:ext uri="{BB962C8B-B14F-4D97-AF65-F5344CB8AC3E}">
        <p14:creationId xmlns:p14="http://schemas.microsoft.com/office/powerpoint/2010/main" val="3436526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8"/>
          </a:xfrm>
        </p:spPr>
        <p:txBody>
          <a:bodyPr anchor="b"/>
          <a:lstStyle>
            <a:lvl1pPr algn="l">
              <a:defRPr sz="1500" b="1"/>
            </a:lvl1pPr>
          </a:lstStyle>
          <a:p>
            <a:r>
              <a:rPr lang="ru-RU"/>
              <a:t>Образец заголовка</a:t>
            </a:r>
          </a:p>
        </p:txBody>
      </p:sp>
      <p:sp>
        <p:nvSpPr>
          <p:cNvPr id="3" name="Рисунок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a:p>
        </p:txBody>
      </p:sp>
      <p:sp>
        <p:nvSpPr>
          <p:cNvPr id="4" name="Текст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ru-RU"/>
              <a:t>Образец текста</a:t>
            </a:r>
          </a:p>
        </p:txBody>
      </p:sp>
      <p:sp>
        <p:nvSpPr>
          <p:cNvPr id="5" name="Дата 4"/>
          <p:cNvSpPr>
            <a:spLocks noGrp="1"/>
          </p:cNvSpPr>
          <p:nvPr>
            <p:ph type="dt" sz="half" idx="10"/>
          </p:nvPr>
        </p:nvSpPr>
        <p:spPr/>
        <p:txBody>
          <a:bodyPr/>
          <a:lstStyle/>
          <a:p>
            <a:fld id="{0BD73C05-5AC4-485B-B5FD-D249DF4C5A92}" type="datetime1">
              <a:rPr lang="ru-RU" smtClean="0"/>
              <a:pPr/>
              <a:t>17.09.2025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1839304A-9F6B-422B-83C1-DE52774CBED0}" type="slidenum">
              <a:rPr lang="ru-RU" smtClean="0"/>
              <a:pPr/>
              <a:t>‹#›</a:t>
            </a:fld>
            <a:endParaRPr lang="ru-RU"/>
          </a:p>
        </p:txBody>
      </p:sp>
      <p:sp>
        <p:nvSpPr>
          <p:cNvPr id="8" name="Половина рамки 7">
            <a:extLst>
              <a:ext uri="{FF2B5EF4-FFF2-40B4-BE49-F238E27FC236}">
                <a16:creationId xmlns:a16="http://schemas.microsoft.com/office/drawing/2014/main" id="{446E5B33-A0EB-4FFF-93CE-8534F9870F7D}"/>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Tree>
    <p:extLst>
      <p:ext uri="{BB962C8B-B14F-4D97-AF65-F5344CB8AC3E}">
        <p14:creationId xmlns:p14="http://schemas.microsoft.com/office/powerpoint/2010/main" val="866174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Заголовок и вертикальный текст">
    <p:spTree>
      <p:nvGrpSpPr>
        <p:cNvPr id="1" name=""/>
        <p:cNvGrpSpPr/>
        <p:nvPr/>
      </p:nvGrpSpPr>
      <p:grpSpPr>
        <a:xfrm>
          <a:off x="0" y="0"/>
          <a:ext cx="0" cy="0"/>
          <a:chOff x="0" y="0"/>
          <a:chExt cx="0" cy="0"/>
        </a:xfrm>
      </p:grpSpPr>
      <p:sp>
        <p:nvSpPr>
          <p:cNvPr id="3" name="Вертикальный текст 2"/>
          <p:cNvSpPr>
            <a:spLocks noGrp="1"/>
          </p:cNvSpPr>
          <p:nvPr>
            <p:ph type="body" orient="vert" idx="1"/>
          </p:nvPr>
        </p:nvSpPr>
        <p:spPr>
          <a:xfrm>
            <a:off x="494259" y="1329755"/>
            <a:ext cx="11381631" cy="479641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4">
            <a:extLst>
              <a:ext uri="{FF2B5EF4-FFF2-40B4-BE49-F238E27FC236}">
                <a16:creationId xmlns:a16="http://schemas.microsoft.com/office/drawing/2014/main" id="{C1DE9387-7153-4D67-ADFA-7713BDE85703}"/>
              </a:ext>
            </a:extLst>
          </p:cNvPr>
          <p:cNvSpPr>
            <a:spLocks noGrp="1"/>
          </p:cNvSpPr>
          <p:nvPr>
            <p:ph type="dt" sz="half" idx="10"/>
          </p:nvPr>
        </p:nvSpPr>
        <p:spPr>
          <a:xfrm>
            <a:off x="494257" y="6344522"/>
            <a:ext cx="2844800" cy="365125"/>
          </a:xfrm>
        </p:spPr>
        <p:txBody>
          <a:bodyPr/>
          <a:lstStyle/>
          <a:p>
            <a:fld id="{990A60D0-A090-49BC-8682-91A14547B9A5}" type="datetime1">
              <a:rPr lang="ru-RU" smtClean="0"/>
              <a:pPr/>
              <a:t>17.09.2025</a:t>
            </a:fld>
            <a:endParaRPr lang="ru-RU"/>
          </a:p>
        </p:txBody>
      </p:sp>
      <p:sp>
        <p:nvSpPr>
          <p:cNvPr id="8" name="Нижний колонтитул 5">
            <a:extLst>
              <a:ext uri="{FF2B5EF4-FFF2-40B4-BE49-F238E27FC236}">
                <a16:creationId xmlns:a16="http://schemas.microsoft.com/office/drawing/2014/main" id="{0E0080E7-B397-44A4-9E9F-1D88DEF59C9E}"/>
              </a:ext>
            </a:extLst>
          </p:cNvPr>
          <p:cNvSpPr>
            <a:spLocks noGrp="1"/>
          </p:cNvSpPr>
          <p:nvPr>
            <p:ph type="ftr" sz="quarter" idx="11"/>
          </p:nvPr>
        </p:nvSpPr>
        <p:spPr>
          <a:xfrm>
            <a:off x="4257501" y="6356355"/>
            <a:ext cx="3860800" cy="365125"/>
          </a:xfrm>
        </p:spPr>
        <p:txBody>
          <a:bodyPr/>
          <a:lstStyle/>
          <a:p>
            <a:endParaRPr lang="ru-RU"/>
          </a:p>
        </p:txBody>
      </p:sp>
      <p:sp>
        <p:nvSpPr>
          <p:cNvPr id="9" name="Номер слайда 6">
            <a:extLst>
              <a:ext uri="{FF2B5EF4-FFF2-40B4-BE49-F238E27FC236}">
                <a16:creationId xmlns:a16="http://schemas.microsoft.com/office/drawing/2014/main" id="{CE9F5759-862C-45D8-A538-067081BC9A25}"/>
              </a:ext>
            </a:extLst>
          </p:cNvPr>
          <p:cNvSpPr>
            <a:spLocks noGrp="1"/>
          </p:cNvSpPr>
          <p:nvPr>
            <p:ph type="sldNum" sz="quarter" idx="12"/>
          </p:nvPr>
        </p:nvSpPr>
        <p:spPr>
          <a:xfrm>
            <a:off x="9036744" y="6356355"/>
            <a:ext cx="2844800" cy="365125"/>
          </a:xfrm>
        </p:spPr>
        <p:txBody>
          <a:bodyPr/>
          <a:lstStyle/>
          <a:p>
            <a:fld id="{1839304A-9F6B-422B-83C1-DE52774CBED0}" type="slidenum">
              <a:rPr lang="ru-RU" smtClean="0"/>
              <a:pPr/>
              <a:t>‹#›</a:t>
            </a:fld>
            <a:endParaRPr lang="ru-RU" dirty="0"/>
          </a:p>
        </p:txBody>
      </p:sp>
      <p:sp>
        <p:nvSpPr>
          <p:cNvPr id="10" name="Нашивка 53">
            <a:extLst>
              <a:ext uri="{FF2B5EF4-FFF2-40B4-BE49-F238E27FC236}">
                <a16:creationId xmlns:a16="http://schemas.microsoft.com/office/drawing/2014/main" id="{79740067-FEA0-4E75-898D-1C6D1296A46A}"/>
              </a:ext>
            </a:extLst>
          </p:cNvPr>
          <p:cNvSpPr/>
          <p:nvPr userDrawn="1"/>
        </p:nvSpPr>
        <p:spPr>
          <a:xfrm>
            <a:off x="190128" y="270878"/>
            <a:ext cx="149797" cy="720080"/>
          </a:xfrm>
          <a:prstGeom prst="chevron">
            <a:avLst>
              <a:gd name="adj" fmla="val 73404"/>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
        <p:nvSpPr>
          <p:cNvPr id="11" name="Половина рамки 10">
            <a:extLst>
              <a:ext uri="{FF2B5EF4-FFF2-40B4-BE49-F238E27FC236}">
                <a16:creationId xmlns:a16="http://schemas.microsoft.com/office/drawing/2014/main" id="{48B0ABC1-E87D-4A2D-B9E1-0A57541E6006}"/>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pic>
        <p:nvPicPr>
          <p:cNvPr id="12" name="Рисунок 11" descr="иктиб презентация 2 СЛАЙД-02.jpg">
            <a:extLst>
              <a:ext uri="{FF2B5EF4-FFF2-40B4-BE49-F238E27FC236}">
                <a16:creationId xmlns:a16="http://schemas.microsoft.com/office/drawing/2014/main" id="{08DB8125-0B71-4718-9BD8-D99871888F9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527699" y="201270"/>
            <a:ext cx="360040" cy="859305"/>
          </a:xfrm>
          <a:prstGeom prst="rect">
            <a:avLst/>
          </a:prstGeom>
        </p:spPr>
      </p:pic>
      <p:pic>
        <p:nvPicPr>
          <p:cNvPr id="13" name="Рисунок 12" descr="Изображение выглядит как счетчик&#10;&#10;Автоматически созданное описание">
            <a:extLst>
              <a:ext uri="{FF2B5EF4-FFF2-40B4-BE49-F238E27FC236}">
                <a16:creationId xmlns:a16="http://schemas.microsoft.com/office/drawing/2014/main" id="{71706A0F-0112-4AD0-9CA0-4714F3A7C81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64552" y="258483"/>
            <a:ext cx="811336" cy="744879"/>
          </a:xfrm>
          <a:prstGeom prst="rect">
            <a:avLst/>
          </a:prstGeom>
        </p:spPr>
      </p:pic>
      <p:sp>
        <p:nvSpPr>
          <p:cNvPr id="14" name="Заголовок 1">
            <a:extLst>
              <a:ext uri="{FF2B5EF4-FFF2-40B4-BE49-F238E27FC236}">
                <a16:creationId xmlns:a16="http://schemas.microsoft.com/office/drawing/2014/main" id="{8BBAE5FE-4B0B-4894-9482-F3BACFE11EA1}"/>
              </a:ext>
            </a:extLst>
          </p:cNvPr>
          <p:cNvSpPr>
            <a:spLocks noGrp="1"/>
          </p:cNvSpPr>
          <p:nvPr>
            <p:ph type="title"/>
          </p:nvPr>
        </p:nvSpPr>
        <p:spPr>
          <a:xfrm>
            <a:off x="494259" y="193741"/>
            <a:ext cx="9922223" cy="874363"/>
          </a:xfrm>
        </p:spPr>
        <p:txBody>
          <a:bodyPr>
            <a:normAutofit/>
          </a:bodyPr>
          <a:lstStyle>
            <a:lvl1pPr algn="l">
              <a:defRPr sz="2400">
                <a:solidFill>
                  <a:srgbClr val="2F195E"/>
                </a:solidFill>
              </a:defRPr>
            </a:lvl1pPr>
          </a:lstStyle>
          <a:p>
            <a:r>
              <a:rPr lang="ru-RU"/>
              <a:t>Образец заголовка</a:t>
            </a:r>
          </a:p>
        </p:txBody>
      </p:sp>
    </p:spTree>
    <p:extLst>
      <p:ext uri="{BB962C8B-B14F-4D97-AF65-F5344CB8AC3E}">
        <p14:creationId xmlns:p14="http://schemas.microsoft.com/office/powerpoint/2010/main" val="336676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839200" y="274643"/>
            <a:ext cx="27432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09600" y="274643"/>
            <a:ext cx="80264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CEB4AF4A-B6CA-4A08-A3B7-80AAA3294BF8}" type="datetime1">
              <a:rPr lang="ru-RU" smtClean="0"/>
              <a:pPr/>
              <a:t>17.09.2025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1839304A-9F6B-422B-83C1-DE52774CBED0}" type="slidenum">
              <a:rPr lang="ru-RU" smtClean="0"/>
              <a:pPr/>
              <a:t>‹#›</a:t>
            </a:fld>
            <a:endParaRPr lang="ru-RU"/>
          </a:p>
        </p:txBody>
      </p:sp>
      <p:sp>
        <p:nvSpPr>
          <p:cNvPr id="7" name="Половина рамки 6">
            <a:extLst>
              <a:ext uri="{FF2B5EF4-FFF2-40B4-BE49-F238E27FC236}">
                <a16:creationId xmlns:a16="http://schemas.microsoft.com/office/drawing/2014/main" id="{B7049F8D-E31B-46F4-B447-45DA31B0B80B}"/>
              </a:ext>
            </a:extLst>
          </p:cNvPr>
          <p:cNvSpPr/>
          <p:nvPr userDrawn="1"/>
        </p:nvSpPr>
        <p:spPr>
          <a:xfrm>
            <a:off x="2" y="-3175"/>
            <a:ext cx="12792745" cy="5880447"/>
          </a:xfrm>
          <a:prstGeom prst="halfFrame">
            <a:avLst>
              <a:gd name="adj1" fmla="val 1323"/>
              <a:gd name="adj2" fmla="val 1179"/>
            </a:avLst>
          </a:prstGeom>
          <a:gradFill>
            <a:gsLst>
              <a:gs pos="0">
                <a:srgbClr val="96CC34"/>
              </a:gs>
              <a:gs pos="100000">
                <a:srgbClr val="2A055B"/>
              </a:gs>
              <a:gs pos="35000">
                <a:srgbClr val="52B277"/>
              </a:gs>
              <a:gs pos="100000">
                <a:schemeClr val="accent5">
                  <a:tint val="15000"/>
                  <a:satMod val="3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tx1"/>
              </a:solidFill>
            </a:endParaRPr>
          </a:p>
        </p:txBody>
      </p:sp>
    </p:spTree>
    <p:extLst>
      <p:ext uri="{BB962C8B-B14F-4D97-AF65-F5344CB8AC3E}">
        <p14:creationId xmlns:p14="http://schemas.microsoft.com/office/powerpoint/2010/main" val="2374674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4889AB9-FE61-40F6-83A3-2359B81E05DE}" type="datetime1">
              <a:rPr lang="ru-RU" smtClean="0"/>
              <a:pPr/>
              <a:t>17.09.2025</a:t>
            </a:fld>
            <a:endParaRPr lang="ru-RU"/>
          </a:p>
        </p:txBody>
      </p:sp>
      <p:sp>
        <p:nvSpPr>
          <p:cNvPr id="5" name="Нижний колонтитул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39304A-9F6B-422B-83C1-DE52774CBED0}" type="slidenum">
              <a:rPr lang="ru-RU" smtClean="0"/>
              <a:pPr/>
              <a:t>‹#›</a:t>
            </a:fld>
            <a:endParaRPr lang="ru-RU"/>
          </a:p>
        </p:txBody>
      </p:sp>
    </p:spTree>
    <p:extLst>
      <p:ext uri="{BB962C8B-B14F-4D97-AF65-F5344CB8AC3E}">
        <p14:creationId xmlns:p14="http://schemas.microsoft.com/office/powerpoint/2010/main" val="12515044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spcBef>
          <a:spcPct val="0"/>
        </a:spcBef>
        <a:buNone/>
        <a:defRPr sz="2400" kern="1200">
          <a:solidFill>
            <a:srgbClr val="2A055B"/>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rgbClr val="1A5997"/>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rgbClr val="1A5997"/>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rgbClr val="1A5997"/>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rgbClr val="1A5997"/>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rgbClr val="1A5997"/>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spras.ru/preprints/docs/prep_13_2006.pdf"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https://cyberleninka.ru/article/n/algoritm-formalizatsii-trebovaniy-pri-razrabotke-informatsionnyh-siste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238151" y="1588305"/>
            <a:ext cx="8715963" cy="2480355"/>
          </a:xfrm>
        </p:spPr>
        <p:txBody>
          <a:bodyPr>
            <a:noAutofit/>
          </a:bodyPr>
          <a:lstStyle/>
          <a:p>
            <a:pPr algn="ctr"/>
            <a:r>
              <a:rPr lang="ru-RU" sz="3200" b="1" dirty="0"/>
              <a:t>ПРОЕКТИРОВАНИЕ И УПРАВЛЕНИЕ ИС</a:t>
            </a:r>
            <a:br>
              <a:rPr lang="ru-RU" sz="2800" dirty="0"/>
            </a:br>
            <a:br>
              <a:rPr lang="ru-RU" sz="2800" dirty="0"/>
            </a:br>
            <a:br>
              <a:rPr lang="ru-RU" sz="2800" dirty="0"/>
            </a:br>
            <a:r>
              <a:rPr lang="ru-RU" sz="2800" dirty="0"/>
              <a:t>Сбор требований и моделирование ИС</a:t>
            </a:r>
          </a:p>
        </p:txBody>
      </p:sp>
      <p:sp>
        <p:nvSpPr>
          <p:cNvPr id="3" name="Подзаголовок 2"/>
          <p:cNvSpPr>
            <a:spLocks noGrp="1"/>
          </p:cNvSpPr>
          <p:nvPr>
            <p:ph type="subTitle" idx="1"/>
          </p:nvPr>
        </p:nvSpPr>
        <p:spPr>
          <a:xfrm>
            <a:off x="7404683" y="5871349"/>
            <a:ext cx="4465541" cy="730265"/>
          </a:xfrm>
        </p:spPr>
        <p:txBody>
          <a:bodyPr>
            <a:normAutofit/>
          </a:bodyPr>
          <a:lstStyle/>
          <a:p>
            <a:pPr algn="r">
              <a:lnSpc>
                <a:spcPct val="100000"/>
              </a:lnSpc>
            </a:pPr>
            <a:r>
              <a:rPr lang="ru-RU" sz="1800" dirty="0">
                <a:solidFill>
                  <a:schemeClr val="tx2"/>
                </a:solidFill>
              </a:rPr>
              <a:t>Компаниец Виталий Сергеевич</a:t>
            </a:r>
          </a:p>
        </p:txBody>
      </p:sp>
      <p:sp>
        <p:nvSpPr>
          <p:cNvPr id="4" name="Объект 2">
            <a:extLst>
              <a:ext uri="{FF2B5EF4-FFF2-40B4-BE49-F238E27FC236}">
                <a16:creationId xmlns:a16="http://schemas.microsoft.com/office/drawing/2014/main" id="{2F0A69FA-D853-A682-39BD-734258E24AE7}"/>
              </a:ext>
            </a:extLst>
          </p:cNvPr>
          <p:cNvSpPr txBox="1">
            <a:spLocks/>
          </p:cNvSpPr>
          <p:nvPr/>
        </p:nvSpPr>
        <p:spPr>
          <a:xfrm>
            <a:off x="3154261" y="3950792"/>
            <a:ext cx="8715963" cy="1082180"/>
          </a:xfrm>
          <a:prstGeom prst="rect">
            <a:avLst/>
          </a:prstGeom>
        </p:spPr>
        <p:txBody>
          <a:bodyPr vert="horz" lIns="91440" tIns="45720" rIns="91440" bIns="45720" rtlCol="0">
            <a:normAutofit/>
          </a:bodyPr>
          <a:lstStyle>
            <a:lvl1pPr marL="257175" indent="-257175" algn="l" defTabSz="685800" rtl="0" eaLnBrk="1" latinLnBrk="0" hangingPunct="1">
              <a:spcBef>
                <a:spcPct val="20000"/>
              </a:spcBef>
              <a:buFont typeface="Arial" pitchFamily="34" charset="0"/>
              <a:buChar char="•"/>
              <a:defRPr sz="2400" kern="1200">
                <a:solidFill>
                  <a:srgbClr val="1A5997"/>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rgbClr val="1A5997"/>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rgbClr val="1A5997"/>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rgbClr val="1A5997"/>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rgbClr val="1A5997"/>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Font typeface="Arial" pitchFamily="34" charset="0"/>
              <a:buNone/>
            </a:pPr>
            <a:endParaRPr lang="ru-RU" sz="2000" dirty="0"/>
          </a:p>
        </p:txBody>
      </p:sp>
    </p:spTree>
    <p:extLst>
      <p:ext uri="{BB962C8B-B14F-4D97-AF65-F5344CB8AC3E}">
        <p14:creationId xmlns:p14="http://schemas.microsoft.com/office/powerpoint/2010/main" val="967980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209274E5-03A0-A583-5561-ABBB9242AA7C}"/>
              </a:ext>
            </a:extLst>
          </p:cNvPr>
          <p:cNvPicPr>
            <a:picLocks noChangeAspect="1"/>
          </p:cNvPicPr>
          <p:nvPr/>
        </p:nvPicPr>
        <p:blipFill>
          <a:blip r:embed="rId2" cstate="email">
            <a:extLst>
              <a:ext uri="{28A0092B-C50C-407E-A947-70E740481C1C}">
                <a14:useLocalDpi xmlns:a14="http://schemas.microsoft.com/office/drawing/2010/main"/>
              </a:ext>
            </a:extLst>
          </a:blip>
          <a:srcRect r="8028"/>
          <a:stretch>
            <a:fillRect/>
          </a:stretch>
        </p:blipFill>
        <p:spPr>
          <a:xfrm>
            <a:off x="6981116" y="3083859"/>
            <a:ext cx="5210884" cy="3774141"/>
          </a:xfrm>
          <a:prstGeom prst="rect">
            <a:avLst/>
          </a:prstGeom>
        </p:spPr>
      </p:pic>
      <p:sp>
        <p:nvSpPr>
          <p:cNvPr id="2" name="Заголовок 1">
            <a:extLst>
              <a:ext uri="{FF2B5EF4-FFF2-40B4-BE49-F238E27FC236}">
                <a16:creationId xmlns:a16="http://schemas.microsoft.com/office/drawing/2014/main" id="{43F1995C-87B1-434F-3AF5-5662DB211664}"/>
              </a:ext>
            </a:extLst>
          </p:cNvPr>
          <p:cNvSpPr>
            <a:spLocks noGrp="1"/>
          </p:cNvSpPr>
          <p:nvPr>
            <p:ph type="title"/>
          </p:nvPr>
        </p:nvSpPr>
        <p:spPr/>
        <p:txBody>
          <a:bodyPr/>
          <a:lstStyle/>
          <a:p>
            <a:r>
              <a:rPr lang="ru-RU" dirty="0"/>
              <a:t>Сбор требований и моделирование информационных систем</a:t>
            </a:r>
          </a:p>
        </p:txBody>
      </p:sp>
      <p:sp>
        <p:nvSpPr>
          <p:cNvPr id="3" name="Объект 2">
            <a:extLst>
              <a:ext uri="{FF2B5EF4-FFF2-40B4-BE49-F238E27FC236}">
                <a16:creationId xmlns:a16="http://schemas.microsoft.com/office/drawing/2014/main" id="{48B18685-5741-5B68-6AC5-70A94F3827CF}"/>
              </a:ext>
            </a:extLst>
          </p:cNvPr>
          <p:cNvSpPr>
            <a:spLocks noGrp="1"/>
          </p:cNvSpPr>
          <p:nvPr>
            <p:ph idx="1"/>
          </p:nvPr>
        </p:nvSpPr>
        <p:spPr>
          <a:xfrm>
            <a:off x="392981" y="1182893"/>
            <a:ext cx="7827288" cy="5208576"/>
          </a:xfrm>
        </p:spPr>
        <p:txBody>
          <a:bodyPr>
            <a:normAutofit/>
          </a:bodyPr>
          <a:lstStyle/>
          <a:p>
            <a:pPr marL="0" indent="0">
              <a:buNone/>
            </a:pPr>
            <a:endParaRPr lang="ru-RU" sz="2000" dirty="0"/>
          </a:p>
          <a:p>
            <a:pPr marL="0" indent="0">
              <a:buNone/>
            </a:pPr>
            <a:r>
              <a:rPr lang="ru-RU" sz="2000" dirty="0"/>
              <a:t>Литература: </a:t>
            </a:r>
          </a:p>
          <a:p>
            <a:pPr marL="0" indent="177800"/>
            <a:r>
              <a:rPr lang="ru-RU" sz="1700" i="1" dirty="0" err="1"/>
              <a:t>Вигерс</a:t>
            </a:r>
            <a:r>
              <a:rPr lang="ru-RU" sz="1700" i="1" dirty="0"/>
              <a:t> Карл, Битти Джой </a:t>
            </a:r>
            <a:r>
              <a:rPr lang="ru-RU" sz="1700" b="1" dirty="0"/>
              <a:t>Разработка требований к программному обеспечению</a:t>
            </a:r>
            <a:r>
              <a:rPr lang="ru-RU" sz="1700" dirty="0"/>
              <a:t>. 3-е изд., дополненное /Пер. с англ. — М. : Издательство «Русская редакция»; СПб.: БХВ-Петербург, 2014. (см. файлы </a:t>
            </a:r>
            <a:r>
              <a:rPr lang="ru-RU" sz="1700" dirty="0" err="1"/>
              <a:t>тимс</a:t>
            </a:r>
            <a:r>
              <a:rPr lang="ru-RU" sz="1700" dirty="0"/>
              <a:t>)</a:t>
            </a:r>
          </a:p>
          <a:p>
            <a:pPr marL="0" indent="177800"/>
            <a:r>
              <a:rPr lang="ru-RU" sz="1700" i="1" dirty="0" err="1"/>
              <a:t>Кулямин</a:t>
            </a:r>
            <a:r>
              <a:rPr lang="ru-RU" sz="1700" i="1" dirty="0"/>
              <a:t> В.В., </a:t>
            </a:r>
            <a:r>
              <a:rPr lang="ru-RU" sz="1700" i="1" dirty="0" err="1"/>
              <a:t>Пакулин</a:t>
            </a:r>
            <a:r>
              <a:rPr lang="ru-RU" sz="1700" i="1" dirty="0"/>
              <a:t> Н.В., Петренко О.Л., Сортов А.А., </a:t>
            </a:r>
            <a:r>
              <a:rPr lang="ru-RU" sz="1700" i="1" dirty="0" err="1"/>
              <a:t>Хорошилов</a:t>
            </a:r>
            <a:r>
              <a:rPr lang="ru-RU" sz="1700" i="1" dirty="0"/>
              <a:t> А.В. </a:t>
            </a:r>
            <a:r>
              <a:rPr lang="ru-RU" sz="1700" b="1" dirty="0"/>
              <a:t>Формализация требований на практике. </a:t>
            </a:r>
            <a:r>
              <a:rPr lang="ru-RU" sz="1700" dirty="0"/>
              <a:t>Препринт №13. М.: ИСП РАН, 2006. </a:t>
            </a:r>
            <a:r>
              <a:rPr lang="en-US" sz="1700" dirty="0">
                <a:hlinkClick r:id="rId3"/>
              </a:rPr>
              <a:t>https://www.ispras.ru/preprints/docs/prep_13_2006.pdf</a:t>
            </a:r>
            <a:r>
              <a:rPr lang="ru-RU" sz="1700" dirty="0"/>
              <a:t> </a:t>
            </a:r>
          </a:p>
          <a:p>
            <a:pPr marL="0" indent="177800"/>
            <a:r>
              <a:rPr lang="ru-RU" sz="1700" i="1" dirty="0"/>
              <a:t>Липко Ю.Ю. </a:t>
            </a:r>
            <a:r>
              <a:rPr lang="ru-RU" sz="1700" b="1" dirty="0"/>
              <a:t>Алгоритм формализации требований при разработке информационных систем </a:t>
            </a:r>
            <a:r>
              <a:rPr lang="ru-RU" sz="1700" dirty="0"/>
              <a:t>// Известия ЮФУ. Технические науки. 2014. №6 (155). URL: </a:t>
            </a:r>
            <a:r>
              <a:rPr lang="ru-RU" sz="1700" dirty="0">
                <a:hlinkClick r:id="rId4"/>
              </a:rPr>
              <a:t>https://cyberleninka.ru/article/n/algoritm-formalizatsii-trebovaniy-pri-razrabotke-informatsionnyh-sistem</a:t>
            </a:r>
            <a:r>
              <a:rPr lang="ru-RU" sz="1700" dirty="0"/>
              <a:t> </a:t>
            </a:r>
          </a:p>
          <a:p>
            <a:pPr marL="0" indent="0">
              <a:buNone/>
            </a:pPr>
            <a:endParaRPr lang="ru-RU" sz="2000" dirty="0"/>
          </a:p>
        </p:txBody>
      </p:sp>
      <p:sp>
        <p:nvSpPr>
          <p:cNvPr id="4" name="Номер слайда 3">
            <a:extLst>
              <a:ext uri="{FF2B5EF4-FFF2-40B4-BE49-F238E27FC236}">
                <a16:creationId xmlns:a16="http://schemas.microsoft.com/office/drawing/2014/main" id="{CC47343C-6259-F462-2948-CCCDBB76DAAA}"/>
              </a:ext>
            </a:extLst>
          </p:cNvPr>
          <p:cNvSpPr>
            <a:spLocks noGrp="1"/>
          </p:cNvSpPr>
          <p:nvPr>
            <p:ph type="sldNum" sz="quarter" idx="12"/>
          </p:nvPr>
        </p:nvSpPr>
        <p:spPr/>
        <p:txBody>
          <a:bodyPr/>
          <a:lstStyle/>
          <a:p>
            <a:fld id="{1839304A-9F6B-422B-83C1-DE52774CBED0}" type="slidenum">
              <a:rPr lang="ru-RU" smtClean="0"/>
              <a:pPr/>
              <a:t>2</a:t>
            </a:fld>
            <a:endParaRPr lang="ru-RU"/>
          </a:p>
        </p:txBody>
      </p:sp>
    </p:spTree>
    <p:extLst>
      <p:ext uri="{BB962C8B-B14F-4D97-AF65-F5344CB8AC3E}">
        <p14:creationId xmlns:p14="http://schemas.microsoft.com/office/powerpoint/2010/main" val="1444997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Формализация требований</a:t>
            </a:r>
          </a:p>
        </p:txBody>
      </p:sp>
      <p:sp>
        <p:nvSpPr>
          <p:cNvPr id="3" name="Содержимое 2"/>
          <p:cNvSpPr>
            <a:spLocks noGrp="1"/>
          </p:cNvSpPr>
          <p:nvPr>
            <p:ph idx="1"/>
          </p:nvPr>
        </p:nvSpPr>
        <p:spPr>
          <a:xfrm>
            <a:off x="494259" y="1272541"/>
            <a:ext cx="11381631" cy="1340030"/>
          </a:xfrm>
        </p:spPr>
        <p:txBody>
          <a:bodyPr/>
          <a:lstStyle/>
          <a:p>
            <a:r>
              <a:rPr lang="ru-RU" dirty="0"/>
              <a:t>Процесс приведения требований к формальному виду для исключения разночтений и неоднозначного восприятия требований</a:t>
            </a:r>
          </a:p>
          <a:p>
            <a:endParaRPr lang="ru-RU" dirty="0"/>
          </a:p>
        </p:txBody>
      </p:sp>
      <p:sp>
        <p:nvSpPr>
          <p:cNvPr id="4" name="Номер слайда 3"/>
          <p:cNvSpPr>
            <a:spLocks noGrp="1"/>
          </p:cNvSpPr>
          <p:nvPr>
            <p:ph type="sldNum" sz="quarter" idx="12"/>
          </p:nvPr>
        </p:nvSpPr>
        <p:spPr/>
        <p:txBody>
          <a:bodyPr/>
          <a:lstStyle/>
          <a:p>
            <a:fld id="{1839304A-9F6B-422B-83C1-DE52774CBED0}" type="slidenum">
              <a:rPr lang="ru-RU" smtClean="0"/>
              <a:pPr/>
              <a:t>3</a:t>
            </a:fld>
            <a:endParaRPr lang="ru-RU" dirty="0"/>
          </a:p>
        </p:txBody>
      </p:sp>
      <p:sp>
        <p:nvSpPr>
          <p:cNvPr id="5" name="Облако 4"/>
          <p:cNvSpPr/>
          <p:nvPr/>
        </p:nvSpPr>
        <p:spPr>
          <a:xfrm>
            <a:off x="466530" y="2397968"/>
            <a:ext cx="4898571" cy="3722915"/>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ru-RU" sz="2000" dirty="0">
                <a:solidFill>
                  <a:schemeClr val="tx1"/>
                </a:solidFill>
              </a:rPr>
              <a:t>Неясные, часто неосознанные, противоречивые и постоянно изменяющиеся проблемы и потребности пользователей</a:t>
            </a:r>
          </a:p>
        </p:txBody>
      </p:sp>
      <p:sp>
        <p:nvSpPr>
          <p:cNvPr id="6" name="Прямоугольник с двумя вырезанными противолежащими углами 5"/>
          <p:cNvSpPr/>
          <p:nvPr/>
        </p:nvSpPr>
        <p:spPr>
          <a:xfrm>
            <a:off x="7063273" y="2481942"/>
            <a:ext cx="4683968" cy="2845837"/>
          </a:xfrm>
          <a:prstGeom prst="snip2Diag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ru-RU" dirty="0"/>
              <a:t>Четко сформулированные, непротиворечивые и однозначно понимаемые требования, которые уже можно использовать для разработки программных систем</a:t>
            </a:r>
          </a:p>
        </p:txBody>
      </p:sp>
      <p:sp>
        <p:nvSpPr>
          <p:cNvPr id="7" name="Прямоугольник с двумя вырезанными противолежащими углами 6"/>
          <p:cNvSpPr/>
          <p:nvPr/>
        </p:nvSpPr>
        <p:spPr>
          <a:xfrm>
            <a:off x="6814455" y="2960917"/>
            <a:ext cx="4683968" cy="2845837"/>
          </a:xfrm>
          <a:prstGeom prst="snip2Diag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ru-RU" dirty="0"/>
              <a:t>Четко сформулированные, непротиворечивые и однозначно понимаемые требования, которые уже можно использовать для разработки программных систем</a:t>
            </a:r>
          </a:p>
        </p:txBody>
      </p:sp>
      <p:sp>
        <p:nvSpPr>
          <p:cNvPr id="8" name="Прямоугольник с двумя вырезанными противолежащими углами 7"/>
          <p:cNvSpPr/>
          <p:nvPr/>
        </p:nvSpPr>
        <p:spPr>
          <a:xfrm>
            <a:off x="6696268" y="3066661"/>
            <a:ext cx="4683968" cy="2845837"/>
          </a:xfrm>
          <a:prstGeom prst="snip2Diag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ru-RU" sz="1600" dirty="0">
                <a:solidFill>
                  <a:schemeClr val="tx1"/>
                </a:solidFill>
              </a:rPr>
              <a:t>Четко сформулированные, непротиворечивые и однозначно понимаемые требования, которые уже можно использовать для разработки программных систем</a:t>
            </a:r>
          </a:p>
          <a:p>
            <a:pPr algn="ctr"/>
            <a:r>
              <a:rPr lang="ru-RU" sz="1100" dirty="0">
                <a:solidFill>
                  <a:schemeClr val="tx1"/>
                </a:solidFill>
              </a:rPr>
              <a:t>(Причем, независимо от конкретных разработчиков и организаций, участвующих в их создании на основе выделенных требований, итоговые системы должны получаться «одинаковыми», т.е. взаимозаменяемыми при решении любой задачи)</a:t>
            </a:r>
          </a:p>
        </p:txBody>
      </p:sp>
      <p:sp>
        <p:nvSpPr>
          <p:cNvPr id="9" name="Стрелка вправо 8"/>
          <p:cNvSpPr/>
          <p:nvPr/>
        </p:nvSpPr>
        <p:spPr>
          <a:xfrm>
            <a:off x="5570373" y="3750906"/>
            <a:ext cx="1007706" cy="989045"/>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Описание проблемы</a:t>
            </a:r>
          </a:p>
        </p:txBody>
      </p:sp>
      <p:sp>
        <p:nvSpPr>
          <p:cNvPr id="3" name="Содержимое 2"/>
          <p:cNvSpPr>
            <a:spLocks noGrp="1"/>
          </p:cNvSpPr>
          <p:nvPr>
            <p:ph idx="1"/>
          </p:nvPr>
        </p:nvSpPr>
        <p:spPr/>
        <p:txBody>
          <a:bodyPr/>
          <a:lstStyle/>
          <a:p>
            <a:r>
              <a:rPr lang="ru-RU" dirty="0"/>
              <a:t>Небольшую программу еще можно создать на основе понимания, сложившегося у разработчика после выслушивания пожеланий пользователей и заказчиков — таковых у небольшой программы обычно немного. </a:t>
            </a:r>
          </a:p>
          <a:p>
            <a:r>
              <a:rPr lang="ru-RU" dirty="0"/>
              <a:t>Для сложных же систем этот способ просто не работает из-за гораздо большего объема информации, которую нужно усвоить, и гораздо более серьезных последствий всех принимаемых решений. Он также приводит к серьезным проблемам совместимости программ, разрабатываемых разными людьми и организациями, поскольку они могут по-разному понимать потребности пользователей и иметь разные взгляды на предметную область в целом</a:t>
            </a:r>
          </a:p>
        </p:txBody>
      </p:sp>
      <p:sp>
        <p:nvSpPr>
          <p:cNvPr id="4" name="Номер слайда 3"/>
          <p:cNvSpPr>
            <a:spLocks noGrp="1"/>
          </p:cNvSpPr>
          <p:nvPr>
            <p:ph type="sldNum" sz="quarter" idx="12"/>
          </p:nvPr>
        </p:nvSpPr>
        <p:spPr/>
        <p:txBody>
          <a:bodyPr/>
          <a:lstStyle/>
          <a:p>
            <a:fld id="{1839304A-9F6B-422B-83C1-DE52774CBED0}" type="slidenum">
              <a:rPr lang="ru-RU" smtClean="0"/>
              <a:pPr/>
              <a:t>4</a:t>
            </a:fld>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Иллюстрация проблемы</a:t>
            </a:r>
          </a:p>
        </p:txBody>
      </p:sp>
      <p:sp>
        <p:nvSpPr>
          <p:cNvPr id="4" name="Номер слайда 3"/>
          <p:cNvSpPr>
            <a:spLocks noGrp="1"/>
          </p:cNvSpPr>
          <p:nvPr>
            <p:ph type="sldNum" sz="quarter" idx="12"/>
          </p:nvPr>
        </p:nvSpPr>
        <p:spPr/>
        <p:txBody>
          <a:bodyPr/>
          <a:lstStyle/>
          <a:p>
            <a:fld id="{1839304A-9F6B-422B-83C1-DE52774CBED0}" type="slidenum">
              <a:rPr lang="ru-RU" smtClean="0"/>
              <a:pPr/>
              <a:t>5</a:t>
            </a:fld>
            <a:endParaRPr lang="ru-RU"/>
          </a:p>
        </p:txBody>
      </p:sp>
      <p:pic>
        <p:nvPicPr>
          <p:cNvPr id="3074" name="Picture 2"/>
          <p:cNvPicPr>
            <a:picLocks noChangeAspect="1" noChangeArrowheads="1"/>
          </p:cNvPicPr>
          <p:nvPr/>
        </p:nvPicPr>
        <p:blipFill>
          <a:blip r:embed="rId2" cstate="print"/>
          <a:srcRect r="3105"/>
          <a:stretch>
            <a:fillRect/>
          </a:stretch>
        </p:blipFill>
        <p:spPr bwMode="auto">
          <a:xfrm>
            <a:off x="1922106" y="1272469"/>
            <a:ext cx="10269894" cy="5040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Решение проблемы</a:t>
            </a:r>
          </a:p>
        </p:txBody>
      </p:sp>
      <p:sp>
        <p:nvSpPr>
          <p:cNvPr id="4" name="Номер слайда 3"/>
          <p:cNvSpPr>
            <a:spLocks noGrp="1"/>
          </p:cNvSpPr>
          <p:nvPr>
            <p:ph type="sldNum" sz="quarter" idx="12"/>
          </p:nvPr>
        </p:nvSpPr>
        <p:spPr/>
        <p:txBody>
          <a:bodyPr/>
          <a:lstStyle/>
          <a:p>
            <a:fld id="{1839304A-9F6B-422B-83C1-DE52774CBED0}" type="slidenum">
              <a:rPr lang="ru-RU" smtClean="0"/>
              <a:pPr/>
              <a:t>6</a:t>
            </a:fld>
            <a:endParaRPr lang="ru-RU"/>
          </a:p>
        </p:txBody>
      </p:sp>
      <p:pic>
        <p:nvPicPr>
          <p:cNvPr id="2050" name="Picture 2"/>
          <p:cNvPicPr>
            <a:picLocks noChangeAspect="1" noChangeArrowheads="1"/>
          </p:cNvPicPr>
          <p:nvPr/>
        </p:nvPicPr>
        <p:blipFill>
          <a:blip r:embed="rId2" cstate="print"/>
          <a:srcRect/>
          <a:stretch>
            <a:fillRect/>
          </a:stretch>
        </p:blipFill>
        <p:spPr bwMode="auto">
          <a:xfrm>
            <a:off x="831326" y="1512016"/>
            <a:ext cx="10664151" cy="4680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Унифицированные подходы к формализации</a:t>
            </a:r>
          </a:p>
        </p:txBody>
      </p:sp>
      <p:sp>
        <p:nvSpPr>
          <p:cNvPr id="3" name="Содержимое 2"/>
          <p:cNvSpPr>
            <a:spLocks noGrp="1"/>
          </p:cNvSpPr>
          <p:nvPr>
            <p:ph idx="1"/>
          </p:nvPr>
        </p:nvSpPr>
        <p:spPr/>
        <p:txBody>
          <a:bodyPr/>
          <a:lstStyle/>
          <a:p>
            <a:pPr marL="457200" lvl="0" indent="-457200" fontAlgn="base">
              <a:buFont typeface="+mj-lt"/>
              <a:buAutoNum type="arabicPeriod"/>
            </a:pPr>
            <a:r>
              <a:rPr lang="ru-RU" dirty="0"/>
              <a:t>Использование шаблонов</a:t>
            </a:r>
          </a:p>
          <a:p>
            <a:pPr marL="457200" indent="-457200" fontAlgn="base">
              <a:buFont typeface="+mj-lt"/>
              <a:buAutoNum type="arabicPeriod"/>
            </a:pPr>
            <a:r>
              <a:rPr lang="ru-RU" dirty="0"/>
              <a:t>Пошаговое преобразования требований в формальную модель </a:t>
            </a:r>
          </a:p>
          <a:p>
            <a:pPr marL="457200" lvl="0" indent="-457200" fontAlgn="base">
              <a:buFont typeface="+mj-lt"/>
              <a:buAutoNum type="arabicPeriod"/>
            </a:pPr>
            <a:r>
              <a:rPr lang="ru-RU" dirty="0"/>
              <a:t>Визуальное моделирование</a:t>
            </a:r>
          </a:p>
          <a:p>
            <a:endParaRPr lang="ru-RU" dirty="0"/>
          </a:p>
        </p:txBody>
      </p:sp>
      <p:sp>
        <p:nvSpPr>
          <p:cNvPr id="4" name="Номер слайда 3"/>
          <p:cNvSpPr>
            <a:spLocks noGrp="1"/>
          </p:cNvSpPr>
          <p:nvPr>
            <p:ph type="sldNum" sz="quarter" idx="12"/>
          </p:nvPr>
        </p:nvSpPr>
        <p:spPr/>
        <p:txBody>
          <a:bodyPr/>
          <a:lstStyle/>
          <a:p>
            <a:fld id="{1839304A-9F6B-422B-83C1-DE52774CBED0}" type="slidenum">
              <a:rPr lang="ru-RU" smtClean="0"/>
              <a:pPr/>
              <a:t>7</a:t>
            </a:fld>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Подход 1: Использование шаблонов</a:t>
            </a:r>
          </a:p>
        </p:txBody>
      </p:sp>
      <p:sp>
        <p:nvSpPr>
          <p:cNvPr id="3" name="Содержимое 2"/>
          <p:cNvSpPr>
            <a:spLocks noGrp="1"/>
          </p:cNvSpPr>
          <p:nvPr>
            <p:ph idx="1"/>
          </p:nvPr>
        </p:nvSpPr>
        <p:spPr/>
        <p:txBody>
          <a:bodyPr>
            <a:normAutofit/>
          </a:bodyPr>
          <a:lstStyle/>
          <a:p>
            <a:pPr marL="0" indent="0" algn="r">
              <a:buNone/>
            </a:pPr>
            <a:r>
              <a:rPr lang="ru-RU" dirty="0"/>
              <a:t>В формальном подходе обычно описываются либо возможности/ограничения пользователя, либо функции/ограничения системы. </a:t>
            </a:r>
          </a:p>
          <a:p>
            <a:pPr>
              <a:buNone/>
            </a:pPr>
            <a:endParaRPr lang="ru-RU" b="1" dirty="0"/>
          </a:p>
          <a:p>
            <a:pPr>
              <a:buNone/>
            </a:pPr>
            <a:r>
              <a:rPr lang="ru-RU" b="1" dirty="0"/>
              <a:t>&lt;Роль&gt; должен иметь возможность &lt;</a:t>
            </a:r>
            <a:r>
              <a:rPr lang="ru-RU" b="1" dirty="0" err="1"/>
              <a:t>возможность</a:t>
            </a:r>
            <a:r>
              <a:rPr lang="ru-RU" b="1" dirty="0"/>
              <a:t>&gt;.</a:t>
            </a:r>
          </a:p>
          <a:p>
            <a:pPr marL="0" indent="0">
              <a:buNone/>
            </a:pPr>
            <a:r>
              <a:rPr lang="ru-RU" sz="2200" dirty="0"/>
              <a:t>Администратор системы должен иметь возможность просматривать отзывы о вкусе и качестве блюд, которые были оставлены через форму обратной связи</a:t>
            </a:r>
          </a:p>
          <a:p>
            <a:pPr>
              <a:buNone/>
            </a:pPr>
            <a:endParaRPr lang="ru-RU" dirty="0"/>
          </a:p>
          <a:p>
            <a:pPr>
              <a:buNone/>
            </a:pPr>
            <a:r>
              <a:rPr lang="ru-RU" b="1" dirty="0"/>
              <a:t>&lt;Система&gt; должна &lt;выполняемая функция&gt;.</a:t>
            </a:r>
          </a:p>
          <a:p>
            <a:pPr marL="0" indent="0">
              <a:buNone/>
            </a:pPr>
            <a:r>
              <a:rPr lang="ru-RU" sz="2200" dirty="0"/>
              <a:t>Система “Школьный портал” должна предоставить пользователю с ролью “Гость” возможность просматривать меню столовой на неделю</a:t>
            </a:r>
            <a:endParaRPr lang="ru-RU" dirty="0"/>
          </a:p>
        </p:txBody>
      </p:sp>
      <p:sp>
        <p:nvSpPr>
          <p:cNvPr id="4" name="Номер слайда 3"/>
          <p:cNvSpPr>
            <a:spLocks noGrp="1"/>
          </p:cNvSpPr>
          <p:nvPr>
            <p:ph type="sldNum" sz="quarter" idx="12"/>
          </p:nvPr>
        </p:nvSpPr>
        <p:spPr/>
        <p:txBody>
          <a:bodyPr/>
          <a:lstStyle/>
          <a:p>
            <a:fld id="{1839304A-9F6B-422B-83C1-DE52774CBED0}" type="slidenum">
              <a:rPr lang="ru-RU" smtClean="0"/>
              <a:pPr/>
              <a:t>8</a:t>
            </a:fld>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Использование шаблонов: Ограничения</a:t>
            </a:r>
          </a:p>
        </p:txBody>
      </p:sp>
      <p:sp>
        <p:nvSpPr>
          <p:cNvPr id="3" name="Содержимое 2"/>
          <p:cNvSpPr>
            <a:spLocks noGrp="1"/>
          </p:cNvSpPr>
          <p:nvPr>
            <p:ph idx="1"/>
          </p:nvPr>
        </p:nvSpPr>
        <p:spPr/>
        <p:txBody>
          <a:bodyPr>
            <a:normAutofit/>
          </a:bodyPr>
          <a:lstStyle/>
          <a:p>
            <a:pPr marL="0" indent="0" algn="r">
              <a:buNone/>
            </a:pPr>
            <a:r>
              <a:rPr lang="ru-RU" dirty="0"/>
              <a:t>В формальном подходе обычно описываются либо возможности/ограничения пользователя, либо функции/ограничения системы </a:t>
            </a:r>
          </a:p>
          <a:p>
            <a:endParaRPr lang="ru-RU" b="1" dirty="0"/>
          </a:p>
          <a:p>
            <a:pPr marL="0" indent="0">
              <a:buNone/>
            </a:pPr>
            <a:r>
              <a:rPr lang="ru-RU" b="1" dirty="0"/>
              <a:t>&lt;Роль&gt; не должен &lt;действие&gt; &lt;документ/регламент, регулирующий ограничение&gt;</a:t>
            </a:r>
            <a:br>
              <a:rPr lang="ru-RU" b="1" dirty="0"/>
            </a:br>
            <a:r>
              <a:rPr lang="ru-RU" dirty="0"/>
              <a:t>Администратор системы не должен иметь возможности удаления отзывов о качестве блюд, которые были оставлены через форму обратной связи</a:t>
            </a:r>
          </a:p>
          <a:p>
            <a:pPr marL="0" indent="0"/>
            <a:endParaRPr lang="ru-RU" dirty="0"/>
          </a:p>
          <a:p>
            <a:pPr marL="0" indent="0">
              <a:buNone/>
            </a:pPr>
            <a:r>
              <a:rPr lang="ru-RU" b="1" dirty="0"/>
              <a:t>&lt;Система&gt; должна &lt;выполняемая функция&gt; каждые &lt;производительность&gt; &lt;единица измерения&gt;.</a:t>
            </a:r>
            <a:br>
              <a:rPr lang="ru-RU" dirty="0"/>
            </a:br>
            <a:r>
              <a:rPr lang="ru-RU" dirty="0"/>
              <a:t>Система “Школьный портал” должна автоматически проверять поступление новых отзывов с формы обратной связи раз в 4 часа</a:t>
            </a:r>
          </a:p>
          <a:p>
            <a:endParaRPr lang="ru-RU" dirty="0"/>
          </a:p>
        </p:txBody>
      </p:sp>
      <p:sp>
        <p:nvSpPr>
          <p:cNvPr id="4" name="Номер слайда 3"/>
          <p:cNvSpPr>
            <a:spLocks noGrp="1"/>
          </p:cNvSpPr>
          <p:nvPr>
            <p:ph type="sldNum" sz="quarter" idx="12"/>
          </p:nvPr>
        </p:nvSpPr>
        <p:spPr/>
        <p:txBody>
          <a:bodyPr/>
          <a:lstStyle/>
          <a:p>
            <a:fld id="{1839304A-9F6B-422B-83C1-DE52774CBED0}" type="slidenum">
              <a:rPr lang="ru-RU" smtClean="0"/>
              <a:pPr/>
              <a:t>9</a:t>
            </a:fld>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Подход 2: пошаговое преобразования требований в формальную модель </a:t>
            </a:r>
            <a:r>
              <a:rPr lang="en-US" dirty="0"/>
              <a:t>[3]</a:t>
            </a:r>
            <a:endParaRPr lang="ru-RU" dirty="0"/>
          </a:p>
        </p:txBody>
      </p:sp>
      <p:sp>
        <p:nvSpPr>
          <p:cNvPr id="3" name="Содержимое 2"/>
          <p:cNvSpPr>
            <a:spLocks noGrp="1"/>
          </p:cNvSpPr>
          <p:nvPr>
            <p:ph idx="1"/>
          </p:nvPr>
        </p:nvSpPr>
        <p:spPr/>
        <p:txBody>
          <a:bodyPr>
            <a:normAutofit fontScale="92500"/>
          </a:bodyPr>
          <a:lstStyle/>
          <a:p>
            <a:pPr marL="457200" indent="-457200">
              <a:buFont typeface="+mj-lt"/>
              <a:buAutoNum type="arabicPeriod"/>
            </a:pPr>
            <a:r>
              <a:rPr lang="ru-RU" dirty="0"/>
              <a:t>Преобразовать предложения требований на естественном языке в табличное представление, которое состоит из пяти колонок: словосочетание вначале предложения, подлежащее, сказуемое, дополнение и словосочетание в конце предложения.</a:t>
            </a:r>
          </a:p>
          <a:p>
            <a:pPr marL="457200" indent="-457200">
              <a:buFont typeface="+mj-lt"/>
              <a:buAutoNum type="arabicPeriod"/>
            </a:pPr>
            <a:r>
              <a:rPr lang="ru-RU" dirty="0"/>
              <a:t>Заполнить все пустые ячейки в полученном табличном представлении текста, преобразуя форму глагола из страдательного залога в действительный, и, если требуется, обменивая значения колонок «Подлежащее» и «Дополнение» в табличном представлении.</a:t>
            </a:r>
          </a:p>
          <a:p>
            <a:pPr marL="457200" indent="-457200">
              <a:buFont typeface="+mj-lt"/>
              <a:buAutoNum type="arabicPeriod"/>
            </a:pPr>
            <a:r>
              <a:rPr lang="ru-RU" dirty="0"/>
              <a:t>Определить рабочие точки в системе – лист актеров (колонка «Подлежащее»). </a:t>
            </a:r>
          </a:p>
          <a:p>
            <a:pPr marL="457200" indent="-457200">
              <a:buFont typeface="+mj-lt"/>
              <a:buAutoNum type="arabicPeriod"/>
            </a:pPr>
            <a:r>
              <a:rPr lang="ru-RU" dirty="0"/>
              <a:t>Построчно выписать действия, выполняемые каждым из актеров, из колонки «Сказуемое».</a:t>
            </a:r>
          </a:p>
          <a:p>
            <a:pPr marL="457200" indent="-457200">
              <a:buFont typeface="+mj-lt"/>
              <a:buAutoNum type="arabicPeriod"/>
            </a:pPr>
            <a:r>
              <a:rPr lang="ru-RU" dirty="0"/>
              <a:t>Создать семантический граф элементов, установив связи между последовательно выполняемыми действиями</a:t>
            </a:r>
          </a:p>
          <a:p>
            <a:pPr marL="457200" indent="-457200">
              <a:buFont typeface="+mj-lt"/>
              <a:buAutoNum type="arabicPeriod"/>
            </a:pPr>
            <a:r>
              <a:rPr lang="ru-RU" dirty="0"/>
              <a:t>Преобразовать граф в гибридную диаграмму деятельности</a:t>
            </a:r>
          </a:p>
        </p:txBody>
      </p:sp>
      <p:sp>
        <p:nvSpPr>
          <p:cNvPr id="4" name="Номер слайда 3"/>
          <p:cNvSpPr>
            <a:spLocks noGrp="1"/>
          </p:cNvSpPr>
          <p:nvPr>
            <p:ph type="sldNum" sz="quarter" idx="12"/>
          </p:nvPr>
        </p:nvSpPr>
        <p:spPr/>
        <p:txBody>
          <a:bodyPr/>
          <a:lstStyle/>
          <a:p>
            <a:fld id="{1839304A-9F6B-422B-83C1-DE52774CBED0}" type="slidenum">
              <a:rPr lang="ru-RU" smtClean="0"/>
              <a:pPr/>
              <a:t>10</a:t>
            </a:fld>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реализации алгоритма (интернет-магазин)</a:t>
            </a:r>
          </a:p>
        </p:txBody>
      </p:sp>
      <p:sp>
        <p:nvSpPr>
          <p:cNvPr id="3" name="Содержимое 2"/>
          <p:cNvSpPr>
            <a:spLocks noGrp="1"/>
          </p:cNvSpPr>
          <p:nvPr>
            <p:ph idx="1"/>
          </p:nvPr>
        </p:nvSpPr>
        <p:spPr/>
        <p:txBody>
          <a:bodyPr/>
          <a:lstStyle/>
          <a:p>
            <a:r>
              <a:rPr lang="ru-RU" dirty="0"/>
              <a:t>Покупатель заходит в интернет-магазин, чтобы сделать очередную покупку. Покупатель выбирает нужный товар. Товар добавляется в корзину и проверяется его наличие на складе. Если товар есть на складе, то оплата может происходить двумя способами: наложенным платежом и с помощью банковской карточки. Если оплата будет наложенным платежом, тогда покупатель оплачивает товар при его получении. Если оплата будет через банковскую карточку, то у покупателя запрашивается номер карты, срок действия, фамилия и имя держателя карты. Покупатель вводит необходимые данные, чтобы инициировать передачу денежных средств со своего банковского счета. Если покупатель имеет недостаточно средств на счете для оплаты товара, тогда банк отклоняет запрос, и покупатель информируется об этом; иначе, если банк принял платеж, то генерируется электронный чек и посылается покупателю. Если товара нет на складе, покупателю предлагается выбрать другой товар.</a:t>
            </a:r>
          </a:p>
        </p:txBody>
      </p:sp>
      <p:sp>
        <p:nvSpPr>
          <p:cNvPr id="4" name="Номер слайда 3"/>
          <p:cNvSpPr>
            <a:spLocks noGrp="1"/>
          </p:cNvSpPr>
          <p:nvPr>
            <p:ph type="sldNum" sz="quarter" idx="12"/>
          </p:nvPr>
        </p:nvSpPr>
        <p:spPr/>
        <p:txBody>
          <a:bodyPr/>
          <a:lstStyle/>
          <a:p>
            <a:fld id="{1839304A-9F6B-422B-83C1-DE52774CBED0}" type="slidenum">
              <a:rPr lang="ru-RU" smtClean="0"/>
              <a:pPr/>
              <a:t>11</a:t>
            </a:fld>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реализации алгоритма (шаг 1)</a:t>
            </a:r>
          </a:p>
        </p:txBody>
      </p:sp>
      <p:sp>
        <p:nvSpPr>
          <p:cNvPr id="4" name="Номер слайда 3"/>
          <p:cNvSpPr>
            <a:spLocks noGrp="1"/>
          </p:cNvSpPr>
          <p:nvPr>
            <p:ph type="sldNum" sz="quarter" idx="12"/>
          </p:nvPr>
        </p:nvSpPr>
        <p:spPr/>
        <p:txBody>
          <a:bodyPr/>
          <a:lstStyle/>
          <a:p>
            <a:fld id="{1839304A-9F6B-422B-83C1-DE52774CBED0}" type="slidenum">
              <a:rPr lang="ru-RU" smtClean="0"/>
              <a:pPr/>
              <a:t>12</a:t>
            </a:fld>
            <a:endParaRPr lang="ru-RU"/>
          </a:p>
        </p:txBody>
      </p:sp>
      <p:pic>
        <p:nvPicPr>
          <p:cNvPr id="6146" name="Picture 2"/>
          <p:cNvPicPr>
            <a:picLocks noChangeAspect="1" noChangeArrowheads="1"/>
          </p:cNvPicPr>
          <p:nvPr/>
        </p:nvPicPr>
        <p:blipFill>
          <a:blip r:embed="rId2" cstate="print"/>
          <a:srcRect/>
          <a:stretch>
            <a:fillRect/>
          </a:stretch>
        </p:blipFill>
        <p:spPr bwMode="auto">
          <a:xfrm>
            <a:off x="671513" y="1665924"/>
            <a:ext cx="10848975" cy="45339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реализации алгоритма (шаг 2)</a:t>
            </a:r>
          </a:p>
        </p:txBody>
      </p:sp>
      <p:sp>
        <p:nvSpPr>
          <p:cNvPr id="4" name="Номер слайда 3"/>
          <p:cNvSpPr>
            <a:spLocks noGrp="1"/>
          </p:cNvSpPr>
          <p:nvPr>
            <p:ph type="sldNum" sz="quarter" idx="12"/>
          </p:nvPr>
        </p:nvSpPr>
        <p:spPr/>
        <p:txBody>
          <a:bodyPr/>
          <a:lstStyle/>
          <a:p>
            <a:fld id="{1839304A-9F6B-422B-83C1-DE52774CBED0}" type="slidenum">
              <a:rPr lang="ru-RU" smtClean="0"/>
              <a:pPr/>
              <a:t>13</a:t>
            </a:fld>
            <a:endParaRPr lang="ru-RU"/>
          </a:p>
        </p:txBody>
      </p:sp>
      <p:pic>
        <p:nvPicPr>
          <p:cNvPr id="7170" name="Picture 2"/>
          <p:cNvPicPr>
            <a:picLocks noChangeAspect="1" noChangeArrowheads="1"/>
          </p:cNvPicPr>
          <p:nvPr/>
        </p:nvPicPr>
        <p:blipFill>
          <a:blip r:embed="rId2" cstate="print"/>
          <a:srcRect/>
          <a:stretch>
            <a:fillRect/>
          </a:stretch>
        </p:blipFill>
        <p:spPr bwMode="auto">
          <a:xfrm>
            <a:off x="671513" y="1877220"/>
            <a:ext cx="10848975" cy="39433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реализации алгоритма (шаги 3,4)</a:t>
            </a:r>
          </a:p>
        </p:txBody>
      </p:sp>
      <p:sp>
        <p:nvSpPr>
          <p:cNvPr id="3" name="Содержимое 2"/>
          <p:cNvSpPr>
            <a:spLocks noGrp="1"/>
          </p:cNvSpPr>
          <p:nvPr>
            <p:ph idx="1"/>
          </p:nvPr>
        </p:nvSpPr>
        <p:spPr/>
        <p:txBody>
          <a:bodyPr/>
          <a:lstStyle/>
          <a:p>
            <a:r>
              <a:rPr lang="ru-RU" dirty="0"/>
              <a:t>Лист актеров:</a:t>
            </a:r>
          </a:p>
          <a:p>
            <a:pPr>
              <a:buNone/>
            </a:pPr>
            <a:r>
              <a:rPr lang="ru-RU" b="1" dirty="0"/>
              <a:t>ЛА = (Покупатель, SYSTEM, Банк).</a:t>
            </a:r>
          </a:p>
          <a:p>
            <a:endParaRPr lang="ru-RU" dirty="0"/>
          </a:p>
          <a:p>
            <a:r>
              <a:rPr lang="ru-RU" dirty="0"/>
              <a:t>Действия для актеров:</a:t>
            </a:r>
          </a:p>
          <a:p>
            <a:pPr marL="447675" indent="-447675">
              <a:buNone/>
            </a:pPr>
            <a:r>
              <a:rPr lang="ru-RU" b="1" dirty="0"/>
              <a:t>Л =[Покупатель (заходит-1, делает-2, выбирает-3, оплачивает-9, вводит-12, инициирует-13, имеет_недостаточно_средств-14); </a:t>
            </a:r>
            <a:br>
              <a:rPr lang="ru-RU" b="1" dirty="0"/>
            </a:br>
            <a:r>
              <a:rPr lang="ru-RU" b="1" dirty="0"/>
              <a:t>SYSTEM (добавляет-4,проверяет-5, есть_на_складе-6, может_происходить-7, будет_наложенным_платежом-8, будет_карточкой-10, запрашивает-11, информирут-16, генерирует-18, посылает_чек-19, предлагает_выбрать-21); </a:t>
            </a:r>
            <a:br>
              <a:rPr lang="ru-RU" b="1" dirty="0"/>
            </a:br>
            <a:r>
              <a:rPr lang="ru-RU" b="1" dirty="0"/>
              <a:t>Банк (отклоняет-15,принимает-17)</a:t>
            </a:r>
            <a:br>
              <a:rPr lang="ru-RU" b="1" dirty="0"/>
            </a:br>
            <a:r>
              <a:rPr lang="ru-RU" b="1"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14</a:t>
            </a:fld>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реализации алгоритма (шаги 5, 6)</a:t>
            </a:r>
          </a:p>
        </p:txBody>
      </p:sp>
      <p:sp>
        <p:nvSpPr>
          <p:cNvPr id="4" name="Номер слайда 3"/>
          <p:cNvSpPr>
            <a:spLocks noGrp="1"/>
          </p:cNvSpPr>
          <p:nvPr>
            <p:ph type="sldNum" sz="quarter" idx="12"/>
          </p:nvPr>
        </p:nvSpPr>
        <p:spPr/>
        <p:txBody>
          <a:bodyPr/>
          <a:lstStyle/>
          <a:p>
            <a:fld id="{1839304A-9F6B-422B-83C1-DE52774CBED0}" type="slidenum">
              <a:rPr lang="ru-RU" smtClean="0"/>
              <a:pPr/>
              <a:t>15</a:t>
            </a:fld>
            <a:endParaRPr lang="ru-RU"/>
          </a:p>
        </p:txBody>
      </p:sp>
      <p:pic>
        <p:nvPicPr>
          <p:cNvPr id="8196" name="Picture 4"/>
          <p:cNvPicPr>
            <a:picLocks noChangeAspect="1" noChangeArrowheads="1"/>
          </p:cNvPicPr>
          <p:nvPr/>
        </p:nvPicPr>
        <p:blipFill>
          <a:blip r:embed="rId2" cstate="print"/>
          <a:srcRect/>
          <a:stretch>
            <a:fillRect/>
          </a:stretch>
        </p:blipFill>
        <p:spPr bwMode="auto">
          <a:xfrm>
            <a:off x="556824" y="1106941"/>
            <a:ext cx="4714875" cy="4905375"/>
          </a:xfrm>
          <a:prstGeom prst="rect">
            <a:avLst/>
          </a:prstGeom>
          <a:noFill/>
          <a:ln w="9525">
            <a:noFill/>
            <a:miter lim="800000"/>
            <a:headEnd/>
            <a:tailEnd/>
          </a:ln>
        </p:spPr>
      </p:pic>
      <p:pic>
        <p:nvPicPr>
          <p:cNvPr id="8197" name="Picture 5"/>
          <p:cNvPicPr>
            <a:picLocks noChangeAspect="1" noChangeArrowheads="1"/>
          </p:cNvPicPr>
          <p:nvPr/>
        </p:nvPicPr>
        <p:blipFill>
          <a:blip r:embed="rId3" cstate="print"/>
          <a:srcRect/>
          <a:stretch>
            <a:fillRect/>
          </a:stretch>
        </p:blipFill>
        <p:spPr bwMode="auto">
          <a:xfrm>
            <a:off x="6954806" y="1035439"/>
            <a:ext cx="3140916" cy="551503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Пошаговое преобразования требований в формальную модель, выводы</a:t>
            </a:r>
          </a:p>
        </p:txBody>
      </p:sp>
      <p:sp>
        <p:nvSpPr>
          <p:cNvPr id="3" name="Содержимое 2"/>
          <p:cNvSpPr>
            <a:spLocks noGrp="1"/>
          </p:cNvSpPr>
          <p:nvPr>
            <p:ph idx="1"/>
          </p:nvPr>
        </p:nvSpPr>
        <p:spPr/>
        <p:txBody>
          <a:bodyPr/>
          <a:lstStyle/>
          <a:p>
            <a:pPr>
              <a:buNone/>
            </a:pPr>
            <a:r>
              <a:rPr lang="ru-RU" dirty="0"/>
              <a:t>Преимущества:</a:t>
            </a:r>
          </a:p>
          <a:p>
            <a:r>
              <a:rPr lang="ru-RU" dirty="0"/>
              <a:t>Табличное представление можно рассматривать как базу знаний.</a:t>
            </a:r>
          </a:p>
          <a:p>
            <a:r>
              <a:rPr lang="ru-RU" dirty="0"/>
              <a:t>Таблица удобна для обработки, в том числе программной. </a:t>
            </a:r>
          </a:p>
          <a:p>
            <a:r>
              <a:rPr lang="ru-RU" dirty="0"/>
              <a:t>Графическое представление очень важно, поскольку позволяет наглядно, быстро и точно передавать информацию.  </a:t>
            </a:r>
          </a:p>
          <a:p>
            <a:r>
              <a:rPr lang="ru-RU" dirty="0"/>
              <a:t>Простой и удобный переход в UML-диаграмму деятельности</a:t>
            </a:r>
          </a:p>
          <a:p>
            <a:pPr>
              <a:buNone/>
            </a:pPr>
            <a:endParaRPr lang="ru-RU" dirty="0"/>
          </a:p>
          <a:p>
            <a:pPr>
              <a:buNone/>
            </a:pPr>
            <a:r>
              <a:rPr lang="ru-RU" dirty="0"/>
              <a:t>Недостатки:</a:t>
            </a:r>
          </a:p>
          <a:p>
            <a:r>
              <a:rPr lang="ru-RU" dirty="0"/>
              <a:t>Трудоемкость первого шага</a:t>
            </a:r>
          </a:p>
          <a:p>
            <a:r>
              <a:rPr lang="ru-RU" dirty="0"/>
              <a:t>Высокая зависимость качества модели от ошибок правильной интерпретации естественного языка</a:t>
            </a:r>
          </a:p>
          <a:p>
            <a:endParaRPr lang="ru-RU" dirty="0"/>
          </a:p>
        </p:txBody>
      </p:sp>
      <p:sp>
        <p:nvSpPr>
          <p:cNvPr id="4" name="Номер слайда 3"/>
          <p:cNvSpPr>
            <a:spLocks noGrp="1"/>
          </p:cNvSpPr>
          <p:nvPr>
            <p:ph type="sldNum" sz="quarter" idx="12"/>
          </p:nvPr>
        </p:nvSpPr>
        <p:spPr/>
        <p:txBody>
          <a:bodyPr/>
          <a:lstStyle/>
          <a:p>
            <a:fld id="{1839304A-9F6B-422B-83C1-DE52774CBED0}" type="slidenum">
              <a:rPr lang="ru-RU" smtClean="0"/>
              <a:pPr/>
              <a:t>16</a:t>
            </a:fld>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lvl="0"/>
            <a:r>
              <a:rPr lang="ru-RU" dirty="0"/>
              <a:t>Подход 3: визуальное моделирование</a:t>
            </a:r>
          </a:p>
        </p:txBody>
      </p:sp>
      <p:sp>
        <p:nvSpPr>
          <p:cNvPr id="3" name="Содержимое 2"/>
          <p:cNvSpPr>
            <a:spLocks noGrp="1"/>
          </p:cNvSpPr>
          <p:nvPr>
            <p:ph idx="1"/>
          </p:nvPr>
        </p:nvSpPr>
        <p:spPr>
          <a:xfrm>
            <a:off x="494259" y="1272540"/>
            <a:ext cx="11381631" cy="5370856"/>
          </a:xfrm>
        </p:spPr>
        <p:txBody>
          <a:bodyPr>
            <a:normAutofit fontScale="70000" lnSpcReduction="20000"/>
          </a:bodyPr>
          <a:lstStyle/>
          <a:p>
            <a:pPr algn="r">
              <a:buNone/>
            </a:pPr>
            <a:r>
              <a:rPr lang="ru-RU" i="1" dirty="0"/>
              <a:t>Лучше 1 раз увидеть, чем 1024 раза услышать (глава 12 </a:t>
            </a:r>
            <a:r>
              <a:rPr lang="en-US" i="1" dirty="0"/>
              <a:t>[1])</a:t>
            </a:r>
            <a:r>
              <a:rPr lang="en-US" dirty="0"/>
              <a:t> </a:t>
            </a:r>
            <a:br>
              <a:rPr lang="ru-RU" dirty="0"/>
            </a:br>
            <a:r>
              <a:rPr lang="en-US" i="1" dirty="0"/>
              <a:t>IKIWISI (</a:t>
            </a:r>
            <a:r>
              <a:rPr lang="ru-RU" i="1" dirty="0"/>
              <a:t>«Я не могу описать, что мне нужно, но я буду знать, когда увижу это»</a:t>
            </a:r>
            <a:r>
              <a:rPr lang="en-US" i="1" dirty="0"/>
              <a:t>)</a:t>
            </a:r>
            <a:endParaRPr lang="ru-RU" i="1" dirty="0"/>
          </a:p>
          <a:p>
            <a:pPr algn="r">
              <a:buNone/>
            </a:pPr>
            <a:endParaRPr lang="en-US" i="1" dirty="0"/>
          </a:p>
          <a:p>
            <a:pPr>
              <a:buNone/>
            </a:pPr>
            <a:r>
              <a:rPr lang="ru-RU" dirty="0"/>
              <a:t>Прототип ПО — это частичное, возможное и предварительное воплощение предлагаемого нового продукта, необходимое для устранения неясностей на ранних стадиях процесса разработки. </a:t>
            </a:r>
          </a:p>
          <a:p>
            <a:pPr>
              <a:buNone/>
            </a:pPr>
            <a:r>
              <a:rPr lang="ru-RU" dirty="0"/>
              <a:t>Основные цели:</a:t>
            </a:r>
          </a:p>
          <a:p>
            <a:r>
              <a:rPr lang="ru-RU" sz="2600" b="1" dirty="0"/>
              <a:t>Прояснение, формулировка и утверждение требований. </a:t>
            </a:r>
            <a:br>
              <a:rPr lang="ru-RU" dirty="0"/>
            </a:br>
            <a:r>
              <a:rPr lang="ru-RU" dirty="0"/>
              <a:t>Используемый в качестве инструмента формулировки требований, прототип позволяет достичь соглашения, обнаружить ошибки и оценить точность и качество требований. Оценка прототипа пользователями указывает на ошибки в формулировке требований, которые можно исправить без больших затрат до создания реального продукта. Это особенно полезно в тех частях системы, которые не очень понятны или особенно рискованны или сложны;</a:t>
            </a:r>
          </a:p>
          <a:p>
            <a:r>
              <a:rPr lang="ru-RU" sz="2600" b="1" dirty="0"/>
              <a:t>Исследование альтернативных решений </a:t>
            </a:r>
            <a:br>
              <a:rPr lang="ru-RU" sz="2600" b="1" dirty="0"/>
            </a:br>
            <a:r>
              <a:rPr lang="ru-RU" dirty="0"/>
              <a:t>Прототип, как инструмент конструирования, позволяет заинтересованным в проекте лицам исследовать различные варианты реализации взаимодействия пользователей, наглядно представить конечный продукт, оптимизировать удобство работы и оценить возможные технические приемы. Прототипы позволяют на рабочих образцах показать на примере рабочих конструкций, насколько осуществимы требования. Они полезны для того, чтобы убедиться, что разработчики правильно понимают требования до начала работы над реальным решением;</a:t>
            </a:r>
          </a:p>
          <a:p>
            <a:r>
              <a:rPr lang="ru-RU" sz="2600" b="1" dirty="0"/>
              <a:t>Создание подмножества, которое в конечном итоге превратится в конечный продукт</a:t>
            </a:r>
            <a:r>
              <a:rPr lang="ru-RU" dirty="0"/>
              <a:t> </a:t>
            </a:r>
            <a:br>
              <a:rPr lang="ru-RU" dirty="0"/>
            </a:br>
            <a:r>
              <a:rPr lang="ru-RU" dirty="0"/>
              <a:t>Используемый в качестве инструмента разработки, прототип — не что иное, как функциональная реализация подмножества продукта, которую можно превратить в готовый продукт в процессе последовательной цепочки небольших циклов разработки.</a:t>
            </a:r>
          </a:p>
        </p:txBody>
      </p:sp>
      <p:sp>
        <p:nvSpPr>
          <p:cNvPr id="4" name="Номер слайда 3"/>
          <p:cNvSpPr>
            <a:spLocks noGrp="1"/>
          </p:cNvSpPr>
          <p:nvPr>
            <p:ph type="sldNum" sz="quarter" idx="12"/>
          </p:nvPr>
        </p:nvSpPr>
        <p:spPr/>
        <p:txBody>
          <a:bodyPr/>
          <a:lstStyle/>
          <a:p>
            <a:fld id="{1839304A-9F6B-422B-83C1-DE52774CBED0}" type="slidenum">
              <a:rPr lang="ru-RU" smtClean="0"/>
              <a:pPr/>
              <a:t>17</a:t>
            </a:fld>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Типичные применения прототипов ПО</a:t>
            </a:r>
          </a:p>
        </p:txBody>
      </p:sp>
      <p:sp>
        <p:nvSpPr>
          <p:cNvPr id="4" name="Номер слайда 3"/>
          <p:cNvSpPr>
            <a:spLocks noGrp="1"/>
          </p:cNvSpPr>
          <p:nvPr>
            <p:ph type="sldNum" sz="quarter" idx="12"/>
          </p:nvPr>
        </p:nvSpPr>
        <p:spPr/>
        <p:txBody>
          <a:bodyPr/>
          <a:lstStyle/>
          <a:p>
            <a:fld id="{1839304A-9F6B-422B-83C1-DE52774CBED0}" type="slidenum">
              <a:rPr lang="ru-RU" smtClean="0"/>
              <a:pPr/>
              <a:t>18</a:t>
            </a:fld>
            <a:endParaRPr lang="ru-RU"/>
          </a:p>
        </p:txBody>
      </p:sp>
      <p:pic>
        <p:nvPicPr>
          <p:cNvPr id="9218" name="Picture 2"/>
          <p:cNvPicPr>
            <a:picLocks noChangeAspect="1" noChangeArrowheads="1"/>
          </p:cNvPicPr>
          <p:nvPr/>
        </p:nvPicPr>
        <p:blipFill>
          <a:blip r:embed="rId2" cstate="print"/>
          <a:srcRect/>
          <a:stretch>
            <a:fillRect/>
          </a:stretch>
        </p:blipFill>
        <p:spPr bwMode="auto">
          <a:xfrm>
            <a:off x="1147665" y="1233778"/>
            <a:ext cx="9620509" cy="539288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Некоторые модели визуального представления</a:t>
            </a:r>
          </a:p>
        </p:txBody>
      </p:sp>
      <p:sp>
        <p:nvSpPr>
          <p:cNvPr id="3" name="Содержимое 2"/>
          <p:cNvSpPr>
            <a:spLocks noGrp="1"/>
          </p:cNvSpPr>
          <p:nvPr>
            <p:ph idx="1"/>
          </p:nvPr>
        </p:nvSpPr>
        <p:spPr/>
        <p:txBody>
          <a:bodyPr>
            <a:normAutofit/>
          </a:bodyPr>
          <a:lstStyle/>
          <a:p>
            <a:r>
              <a:rPr lang="ru-RU" dirty="0"/>
              <a:t>Диаграммы потоков данных (</a:t>
            </a:r>
            <a:r>
              <a:rPr lang="ru-RU" dirty="0" err="1"/>
              <a:t>data</a:t>
            </a:r>
            <a:r>
              <a:rPr lang="ru-RU" dirty="0"/>
              <a:t> </a:t>
            </a:r>
            <a:r>
              <a:rPr lang="ru-RU" dirty="0" err="1"/>
              <a:t>flow</a:t>
            </a:r>
            <a:r>
              <a:rPr lang="ru-RU" dirty="0"/>
              <a:t> </a:t>
            </a:r>
            <a:r>
              <a:rPr lang="ru-RU" dirty="0" err="1"/>
              <a:t>diagrams</a:t>
            </a:r>
            <a:r>
              <a:rPr lang="ru-RU" dirty="0"/>
              <a:t>, DFD);</a:t>
            </a:r>
          </a:p>
          <a:p>
            <a:r>
              <a:rPr lang="ru-RU" dirty="0"/>
              <a:t>Диаграммы рабочих потоков (взаимодействий, </a:t>
            </a:r>
            <a:r>
              <a:rPr lang="ru-RU" dirty="0" err="1"/>
              <a:t>swimlane</a:t>
            </a:r>
            <a:r>
              <a:rPr lang="ru-RU" dirty="0"/>
              <a:t>);</a:t>
            </a:r>
          </a:p>
          <a:p>
            <a:r>
              <a:rPr lang="ru-RU" dirty="0"/>
              <a:t>Диаграммы переходов состояний (</a:t>
            </a:r>
            <a:r>
              <a:rPr lang="ru-RU" dirty="0" err="1"/>
              <a:t>state-transition</a:t>
            </a:r>
            <a:r>
              <a:rPr lang="ru-RU" dirty="0"/>
              <a:t> </a:t>
            </a:r>
            <a:r>
              <a:rPr lang="ru-RU" dirty="0" err="1"/>
              <a:t>diagrams</a:t>
            </a:r>
            <a:r>
              <a:rPr lang="ru-RU" dirty="0"/>
              <a:t>, STD) и таблицы состояний;</a:t>
            </a:r>
          </a:p>
          <a:p>
            <a:r>
              <a:rPr lang="ru-RU" dirty="0"/>
              <a:t>Карты диалоговых окон;</a:t>
            </a:r>
          </a:p>
          <a:p>
            <a:r>
              <a:rPr lang="ru-RU" dirty="0"/>
              <a:t>Таблицы и деревья решений;</a:t>
            </a:r>
          </a:p>
          <a:p>
            <a:r>
              <a:rPr lang="ru-RU" dirty="0"/>
              <a:t>Таблицы событий и реакций;</a:t>
            </a:r>
          </a:p>
          <a:p>
            <a:r>
              <a:rPr lang="ru-RU" dirty="0"/>
              <a:t>Деревья функций; </a:t>
            </a:r>
          </a:p>
          <a:p>
            <a:r>
              <a:rPr lang="ru-RU" dirty="0"/>
              <a:t>Диаграммы вариантов использования;</a:t>
            </a:r>
          </a:p>
          <a:p>
            <a:r>
              <a:rPr lang="ru-RU" dirty="0"/>
              <a:t>Диаграммы процессов;</a:t>
            </a:r>
          </a:p>
          <a:p>
            <a:r>
              <a:rPr lang="ru-RU" dirty="0"/>
              <a:t>Диаграммы «сущность-связь» (</a:t>
            </a:r>
            <a:r>
              <a:rPr lang="ru-RU" dirty="0" err="1"/>
              <a:t>entity-relationship</a:t>
            </a:r>
            <a:r>
              <a:rPr lang="ru-RU" dirty="0"/>
              <a:t> </a:t>
            </a:r>
            <a:r>
              <a:rPr lang="ru-RU" dirty="0" err="1"/>
              <a:t>diagrams</a:t>
            </a:r>
            <a:r>
              <a:rPr lang="ru-RU" dirty="0"/>
              <a:t>, ERD)…</a:t>
            </a:r>
          </a:p>
        </p:txBody>
      </p:sp>
      <p:sp>
        <p:nvSpPr>
          <p:cNvPr id="4" name="Номер слайда 3"/>
          <p:cNvSpPr>
            <a:spLocks noGrp="1"/>
          </p:cNvSpPr>
          <p:nvPr>
            <p:ph type="sldNum" sz="quarter" idx="12"/>
          </p:nvPr>
        </p:nvSpPr>
        <p:spPr/>
        <p:txBody>
          <a:bodyPr/>
          <a:lstStyle/>
          <a:p>
            <a:fld id="{1839304A-9F6B-422B-83C1-DE52774CBED0}" type="slidenum">
              <a:rPr lang="ru-RU" smtClean="0"/>
              <a:pPr/>
              <a:t>19</a:t>
            </a:fld>
            <a:endParaRPr 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Соответствие значимых слов требований компонентам моделей анализа</a:t>
            </a:r>
          </a:p>
        </p:txBody>
      </p:sp>
      <p:graphicFrame>
        <p:nvGraphicFramePr>
          <p:cNvPr id="5" name="Содержимое 4"/>
          <p:cNvGraphicFramePr>
            <a:graphicFrameLocks noGrp="1"/>
          </p:cNvGraphicFramePr>
          <p:nvPr>
            <p:ph idx="1"/>
          </p:nvPr>
        </p:nvGraphicFramePr>
        <p:xfrm>
          <a:off x="493713" y="1273175"/>
          <a:ext cx="11382375" cy="5006326"/>
        </p:xfrm>
        <a:graphic>
          <a:graphicData uri="http://schemas.openxmlformats.org/drawingml/2006/table">
            <a:tbl>
              <a:tblPr firstRow="1" bandRow="1">
                <a:tableStyleId>{5C22544A-7EE6-4342-B048-85BDC9FD1C3A}</a:tableStyleId>
              </a:tblPr>
              <a:tblGrid>
                <a:gridCol w="2034883">
                  <a:extLst>
                    <a:ext uri="{9D8B030D-6E8A-4147-A177-3AD203B41FA5}">
                      <a16:colId xmlns:a16="http://schemas.microsoft.com/office/drawing/2014/main" val="20000"/>
                    </a:ext>
                  </a:extLst>
                </a:gridCol>
                <a:gridCol w="3069771">
                  <a:extLst>
                    <a:ext uri="{9D8B030D-6E8A-4147-A177-3AD203B41FA5}">
                      <a16:colId xmlns:a16="http://schemas.microsoft.com/office/drawing/2014/main" val="20001"/>
                    </a:ext>
                  </a:extLst>
                </a:gridCol>
                <a:gridCol w="6277721">
                  <a:extLst>
                    <a:ext uri="{9D8B030D-6E8A-4147-A177-3AD203B41FA5}">
                      <a16:colId xmlns:a16="http://schemas.microsoft.com/office/drawing/2014/main" val="20002"/>
                    </a:ext>
                  </a:extLst>
                </a:gridCol>
              </a:tblGrid>
              <a:tr h="408337">
                <a:tc>
                  <a:txBody>
                    <a:bodyPr/>
                    <a:lstStyle/>
                    <a:p>
                      <a:r>
                        <a:rPr lang="ru-RU" sz="1600" dirty="0"/>
                        <a:t>Тип</a:t>
                      </a:r>
                    </a:p>
                  </a:txBody>
                  <a:tcPr/>
                </a:tc>
                <a:tc>
                  <a:txBody>
                    <a:bodyPr/>
                    <a:lstStyle/>
                    <a:p>
                      <a:r>
                        <a:rPr lang="ru-RU" sz="1600" dirty="0"/>
                        <a:t>Примеры</a:t>
                      </a:r>
                    </a:p>
                  </a:txBody>
                  <a:tcPr/>
                </a:tc>
                <a:tc>
                  <a:txBody>
                    <a:bodyPr/>
                    <a:lstStyle/>
                    <a:p>
                      <a:r>
                        <a:rPr lang="ru-RU" sz="1600" dirty="0"/>
                        <a:t>Компоненты модели анализа</a:t>
                      </a:r>
                    </a:p>
                  </a:txBody>
                  <a:tcPr/>
                </a:tc>
                <a:extLst>
                  <a:ext uri="{0D108BD9-81ED-4DB2-BD59-A6C34878D82A}">
                    <a16:rowId xmlns:a16="http://schemas.microsoft.com/office/drawing/2014/main" val="10000"/>
                  </a:ext>
                </a:extLst>
              </a:tr>
              <a:tr h="1711660">
                <a:tc>
                  <a:txBody>
                    <a:bodyPr/>
                    <a:lstStyle/>
                    <a:p>
                      <a:r>
                        <a:rPr lang="ru-RU" sz="1800" dirty="0"/>
                        <a:t>Существительное</a:t>
                      </a:r>
                      <a:endParaRPr lang="ru-RU" sz="1600" dirty="0"/>
                    </a:p>
                  </a:txBody>
                  <a:tcPr/>
                </a:tc>
                <a:tc>
                  <a:txBody>
                    <a:bodyPr/>
                    <a:lstStyle/>
                    <a:p>
                      <a:r>
                        <a:rPr lang="ru-RU" sz="1600" dirty="0"/>
                        <a:t>Люди, организации, системы ПО, элементы данных или существующие объекты</a:t>
                      </a:r>
                    </a:p>
                  </a:txBody>
                  <a:tcPr/>
                </a:tc>
                <a:tc>
                  <a:txBody>
                    <a:bodyPr/>
                    <a:lstStyle/>
                    <a:p>
                      <a:pPr marL="177800" indent="-177800">
                        <a:buFont typeface="Arial" pitchFamily="34" charset="0"/>
                        <a:buChar char="•"/>
                      </a:pPr>
                      <a:r>
                        <a:rPr lang="ru-RU" sz="1600" dirty="0"/>
                        <a:t>Внешние сущности, хранилища данных или потоки данных (диаграммы потоков данных)</a:t>
                      </a:r>
                    </a:p>
                    <a:p>
                      <a:pPr marL="177800" indent="-177800">
                        <a:buFont typeface="Arial" pitchFamily="34" charset="0"/>
                        <a:buChar char="•"/>
                      </a:pPr>
                      <a:r>
                        <a:rPr lang="ru-RU" sz="1600" dirty="0"/>
                        <a:t>Действующие лица (диаграммы вариантов использования)</a:t>
                      </a:r>
                    </a:p>
                    <a:p>
                      <a:pPr marL="177800" indent="-177800">
                        <a:buFont typeface="Arial" pitchFamily="34" charset="0"/>
                        <a:buChar char="•"/>
                      </a:pPr>
                      <a:r>
                        <a:rPr lang="ru-RU" sz="1600" dirty="0"/>
                        <a:t>Сущности или их атрибуты (диаграммы «сущность–связь»)</a:t>
                      </a:r>
                    </a:p>
                    <a:p>
                      <a:pPr marL="177800" indent="-177800">
                        <a:buFont typeface="Arial" pitchFamily="34" charset="0"/>
                        <a:buChar char="•"/>
                      </a:pPr>
                      <a:r>
                        <a:rPr lang="ru-RU" sz="1600" dirty="0"/>
                        <a:t>Дорожки (диаграммы </a:t>
                      </a:r>
                      <a:r>
                        <a:rPr lang="ru-RU" sz="1600" dirty="0" err="1"/>
                        <a:t>swimlane</a:t>
                      </a:r>
                      <a:r>
                        <a:rPr lang="ru-RU" sz="1600" dirty="0"/>
                        <a:t>)</a:t>
                      </a:r>
                    </a:p>
                    <a:p>
                      <a:pPr marL="177800" indent="-177800">
                        <a:buFont typeface="Arial" pitchFamily="34" charset="0"/>
                        <a:buChar char="•"/>
                      </a:pPr>
                      <a:r>
                        <a:rPr lang="ru-RU" sz="1600" dirty="0"/>
                        <a:t>Объекты с состояниями (STD)</a:t>
                      </a:r>
                    </a:p>
                  </a:txBody>
                  <a:tcPr/>
                </a:tc>
                <a:extLst>
                  <a:ext uri="{0D108BD9-81ED-4DB2-BD59-A6C34878D82A}">
                    <a16:rowId xmlns:a16="http://schemas.microsoft.com/office/drawing/2014/main" val="10001"/>
                  </a:ext>
                </a:extLst>
              </a:tr>
              <a:tr h="1980156">
                <a:tc>
                  <a:txBody>
                    <a:bodyPr/>
                    <a:lstStyle/>
                    <a:p>
                      <a:r>
                        <a:rPr lang="ru-RU" sz="1600" dirty="0"/>
                        <a:t>Глагол</a:t>
                      </a:r>
                    </a:p>
                  </a:txBody>
                  <a:tcPr/>
                </a:tc>
                <a:tc>
                  <a:txBody>
                    <a:bodyPr/>
                    <a:lstStyle/>
                    <a:p>
                      <a:r>
                        <a:rPr lang="ru-RU" sz="1600" dirty="0"/>
                        <a:t>Действия, задачи, которые пользователь может выполнить, или события, которые могут произойти</a:t>
                      </a:r>
                    </a:p>
                  </a:txBody>
                  <a:tcPr/>
                </a:tc>
                <a:tc>
                  <a:txBody>
                    <a:bodyPr/>
                    <a:lstStyle/>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Процессы (диаграммы потоков данных)</a:t>
                      </a:r>
                    </a:p>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Шаги процессов (диаграммы </a:t>
                      </a:r>
                      <a:r>
                        <a:rPr lang="ru-RU" sz="1600" kern="1200" dirty="0" err="1">
                          <a:solidFill>
                            <a:schemeClr val="dk1"/>
                          </a:solidFill>
                          <a:latin typeface="+mn-lt"/>
                          <a:ea typeface="+mn-ea"/>
                          <a:cs typeface="+mn-cs"/>
                        </a:rPr>
                        <a:t>swimlane</a:t>
                      </a:r>
                      <a:r>
                        <a:rPr lang="ru-RU" sz="1600" kern="1200" dirty="0">
                          <a:solidFill>
                            <a:schemeClr val="dk1"/>
                          </a:solidFill>
                          <a:latin typeface="+mn-lt"/>
                          <a:ea typeface="+mn-ea"/>
                          <a:cs typeface="+mn-cs"/>
                        </a:rPr>
                        <a:t>)</a:t>
                      </a:r>
                    </a:p>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Варианты использования (диаграммы вариантов использования)</a:t>
                      </a:r>
                    </a:p>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Взаимосвязи (диаграммы «сущность–связь»)</a:t>
                      </a:r>
                    </a:p>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Переходы (диаграммы переходов состояний)</a:t>
                      </a:r>
                    </a:p>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Действия (диаграммы действий)</a:t>
                      </a:r>
                    </a:p>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События (таблица событий и реакций)</a:t>
                      </a:r>
                    </a:p>
                  </a:txBody>
                  <a:tcPr/>
                </a:tc>
                <a:extLst>
                  <a:ext uri="{0D108BD9-81ED-4DB2-BD59-A6C34878D82A}">
                    <a16:rowId xmlns:a16="http://schemas.microsoft.com/office/drawing/2014/main" val="10002"/>
                  </a:ext>
                </a:extLst>
              </a:tr>
              <a:tr h="906173">
                <a:tc>
                  <a:txBody>
                    <a:bodyPr/>
                    <a:lstStyle/>
                    <a:p>
                      <a:r>
                        <a:rPr lang="ru-RU" sz="1600" dirty="0"/>
                        <a:t>Условие</a:t>
                      </a:r>
                    </a:p>
                  </a:txBody>
                  <a:tcPr/>
                </a:tc>
                <a:tc>
                  <a:txBody>
                    <a:bodyPr/>
                    <a:lstStyle/>
                    <a:p>
                      <a:r>
                        <a:rPr lang="ru-RU" sz="1600" dirty="0"/>
                        <a:t>Выражения условной логики (например, «если, то»)</a:t>
                      </a:r>
                    </a:p>
                  </a:txBody>
                  <a:tcPr/>
                </a:tc>
                <a:tc>
                  <a:txBody>
                    <a:bodyPr/>
                    <a:lstStyle/>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Решения (деревья решений, таблицы решений или диаграмма действий)</a:t>
                      </a:r>
                    </a:p>
                    <a:p>
                      <a:pPr marL="177800" indent="-177800" algn="l" defTabSz="685800" rtl="0" eaLnBrk="1" latinLnBrk="0" hangingPunct="1">
                        <a:buFont typeface="Arial" pitchFamily="34" charset="0"/>
                        <a:buChar char="•"/>
                      </a:pPr>
                      <a:r>
                        <a:rPr lang="ru-RU" sz="1600" kern="1200" dirty="0">
                          <a:solidFill>
                            <a:schemeClr val="dk1"/>
                          </a:solidFill>
                          <a:latin typeface="+mn-lt"/>
                          <a:ea typeface="+mn-ea"/>
                          <a:cs typeface="+mn-cs"/>
                        </a:rPr>
                        <a:t>Ветвление (диаграмма </a:t>
                      </a:r>
                      <a:r>
                        <a:rPr lang="ru-RU" sz="1600" kern="1200" dirty="0" err="1">
                          <a:solidFill>
                            <a:schemeClr val="dk1"/>
                          </a:solidFill>
                          <a:latin typeface="+mn-lt"/>
                          <a:ea typeface="+mn-ea"/>
                          <a:cs typeface="+mn-cs"/>
                        </a:rPr>
                        <a:t>swimlane</a:t>
                      </a:r>
                      <a:r>
                        <a:rPr lang="ru-RU" sz="1600" kern="1200" dirty="0">
                          <a:solidFill>
                            <a:schemeClr val="dk1"/>
                          </a:solidFill>
                          <a:latin typeface="+mn-lt"/>
                          <a:ea typeface="+mn-ea"/>
                          <a:cs typeface="+mn-cs"/>
                        </a:rPr>
                        <a:t> или диаграмма действий)</a:t>
                      </a:r>
                    </a:p>
                  </a:txBody>
                  <a:tcPr/>
                </a:tc>
                <a:extLst>
                  <a:ext uri="{0D108BD9-81ED-4DB2-BD59-A6C34878D82A}">
                    <a16:rowId xmlns:a16="http://schemas.microsoft.com/office/drawing/2014/main" val="10003"/>
                  </a:ext>
                </a:extLst>
              </a:tr>
            </a:tbl>
          </a:graphicData>
        </a:graphic>
      </p:graphicFrame>
      <p:sp>
        <p:nvSpPr>
          <p:cNvPr id="4" name="Номер слайда 3"/>
          <p:cNvSpPr>
            <a:spLocks noGrp="1"/>
          </p:cNvSpPr>
          <p:nvPr>
            <p:ph type="sldNum" sz="quarter" idx="12"/>
          </p:nvPr>
        </p:nvSpPr>
        <p:spPr/>
        <p:txBody>
          <a:bodyPr/>
          <a:lstStyle/>
          <a:p>
            <a:fld id="{1839304A-9F6B-422B-83C1-DE52774CBED0}" type="slidenum">
              <a:rPr lang="ru-RU" smtClean="0"/>
              <a:pPr/>
              <a:t>20</a:t>
            </a:fld>
            <a:endParaRPr 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Выбор наиболее подходящих способов представления</a:t>
            </a:r>
          </a:p>
        </p:txBody>
      </p:sp>
      <p:graphicFrame>
        <p:nvGraphicFramePr>
          <p:cNvPr id="5" name="Содержимое 4"/>
          <p:cNvGraphicFramePr>
            <a:graphicFrameLocks noGrp="1"/>
          </p:cNvGraphicFramePr>
          <p:nvPr>
            <p:ph idx="1"/>
          </p:nvPr>
        </p:nvGraphicFramePr>
        <p:xfrm>
          <a:off x="493713" y="1273175"/>
          <a:ext cx="11382376" cy="4846320"/>
        </p:xfrm>
        <a:graphic>
          <a:graphicData uri="http://schemas.openxmlformats.org/drawingml/2006/table">
            <a:tbl>
              <a:tblPr firstRow="1" bandRow="1">
                <a:tableStyleId>{5C22544A-7EE6-4342-B048-85BDC9FD1C3A}</a:tableStyleId>
              </a:tblPr>
              <a:tblGrid>
                <a:gridCol w="1596344">
                  <a:extLst>
                    <a:ext uri="{9D8B030D-6E8A-4147-A177-3AD203B41FA5}">
                      <a16:colId xmlns:a16="http://schemas.microsoft.com/office/drawing/2014/main" val="20000"/>
                    </a:ext>
                  </a:extLst>
                </a:gridCol>
                <a:gridCol w="9786032">
                  <a:extLst>
                    <a:ext uri="{9D8B030D-6E8A-4147-A177-3AD203B41FA5}">
                      <a16:colId xmlns:a16="http://schemas.microsoft.com/office/drawing/2014/main" val="20001"/>
                    </a:ext>
                  </a:extLst>
                </a:gridCol>
              </a:tblGrid>
              <a:tr h="370840">
                <a:tc>
                  <a:txBody>
                    <a:bodyPr/>
                    <a:lstStyle/>
                    <a:p>
                      <a:r>
                        <a:rPr lang="ru-RU" sz="1200" dirty="0"/>
                        <a:t>Отображение информации</a:t>
                      </a:r>
                    </a:p>
                  </a:txBody>
                  <a:tcPr/>
                </a:tc>
                <a:tc>
                  <a:txBody>
                    <a:bodyPr/>
                    <a:lstStyle/>
                    <a:p>
                      <a:r>
                        <a:rPr lang="ru-RU" sz="1200" dirty="0"/>
                        <a:t>Способы представления</a:t>
                      </a:r>
                    </a:p>
                  </a:txBody>
                  <a:tcPr/>
                </a:tc>
                <a:extLst>
                  <a:ext uri="{0D108BD9-81ED-4DB2-BD59-A6C34878D82A}">
                    <a16:rowId xmlns:a16="http://schemas.microsoft.com/office/drawing/2014/main" val="10000"/>
                  </a:ext>
                </a:extLst>
              </a:tr>
              <a:tr h="370840">
                <a:tc>
                  <a:txBody>
                    <a:bodyPr/>
                    <a:lstStyle/>
                    <a:p>
                      <a:r>
                        <a:rPr lang="ru-RU" sz="1200" dirty="0"/>
                        <a:t>Внешние интерфейсы системы</a:t>
                      </a:r>
                    </a:p>
                  </a:txBody>
                  <a:tcPr/>
                </a:tc>
                <a:tc>
                  <a:txBody>
                    <a:bodyPr/>
                    <a:lstStyle/>
                    <a:p>
                      <a:r>
                        <a:rPr lang="ru-RU" sz="1200" b="1" i="1" dirty="0"/>
                        <a:t>Контекстная диаграмма </a:t>
                      </a:r>
                      <a:r>
                        <a:rPr lang="ru-RU" sz="1200" dirty="0"/>
                        <a:t>и </a:t>
                      </a:r>
                      <a:r>
                        <a:rPr lang="ru-RU" sz="1200" b="1" i="0" dirty="0"/>
                        <a:t>диаграмма вариантов использования </a:t>
                      </a:r>
                      <a:r>
                        <a:rPr lang="ru-RU" sz="1200" dirty="0"/>
                        <a:t>указывают внешние объекты, подключающиеся к системе. </a:t>
                      </a:r>
                      <a:r>
                        <a:rPr lang="ru-RU" sz="1200" b="1" dirty="0"/>
                        <a:t>Контекстная диаграмма</a:t>
                      </a:r>
                      <a:r>
                        <a:rPr lang="ru-RU" sz="1200" dirty="0"/>
                        <a:t> и </a:t>
                      </a:r>
                      <a:r>
                        <a:rPr lang="ru-RU" sz="1200" b="1" dirty="0"/>
                        <a:t>диаграмма потоков данных </a:t>
                      </a:r>
                      <a:r>
                        <a:rPr lang="ru-RU" sz="1200" dirty="0"/>
                        <a:t>иллюстрируют входную и выходную информацию системы на высоком уровне абстракции. </a:t>
                      </a:r>
                      <a:r>
                        <a:rPr lang="ru-RU" sz="1200" b="1" dirty="0"/>
                        <a:t>Карта экосистемы</a:t>
                      </a:r>
                      <a:r>
                        <a:rPr lang="ru-RU" sz="1200" dirty="0"/>
                        <a:t> указывает возможные системы, которые взаимодействуют, но также включает те, которые взаимодействуют не напрямую. </a:t>
                      </a:r>
                      <a:r>
                        <a:rPr lang="ru-RU" sz="1200" b="1" dirty="0"/>
                        <a:t>Диаграммы </a:t>
                      </a:r>
                      <a:r>
                        <a:rPr lang="ru-RU" sz="1200" b="1" dirty="0" err="1"/>
                        <a:t>swimlane</a:t>
                      </a:r>
                      <a:r>
                        <a:rPr lang="ru-RU" sz="1200" b="1" dirty="0"/>
                        <a:t> </a:t>
                      </a:r>
                      <a:r>
                        <a:rPr lang="ru-RU" sz="1200" dirty="0"/>
                        <a:t>показывают, что происходит в процессе взаимодействия между системами.</a:t>
                      </a:r>
                    </a:p>
                    <a:p>
                      <a:r>
                        <a:rPr lang="ru-RU" sz="1200" dirty="0"/>
                        <a:t>Подробности внешних интерфейсов могут фиксироваться во входных и выходных </a:t>
                      </a:r>
                      <a:r>
                        <a:rPr lang="ru-RU" sz="1200" b="1" dirty="0"/>
                        <a:t>форматах файлов </a:t>
                      </a:r>
                      <a:r>
                        <a:rPr lang="ru-RU" sz="1200" dirty="0"/>
                        <a:t>и </a:t>
                      </a:r>
                      <a:r>
                        <a:rPr lang="ru-RU" sz="1200" b="1" dirty="0"/>
                        <a:t>макетов отчетов</a:t>
                      </a:r>
                      <a:r>
                        <a:rPr lang="ru-RU" sz="1200" dirty="0"/>
                        <a:t>. У продуктов, состоящих как из программных, так и аппаратных компонентов, часто есть </a:t>
                      </a:r>
                      <a:r>
                        <a:rPr lang="ru-RU" sz="1200" b="1" dirty="0"/>
                        <a:t>спецификации интерфейсов </a:t>
                      </a:r>
                      <a:r>
                        <a:rPr lang="ru-RU" sz="1200" dirty="0"/>
                        <a:t>с определениями атрибутов данных, обычно в форме API-интерфейса или конкретных входных и выходных сигналах аппаратного устройства</a:t>
                      </a:r>
                    </a:p>
                  </a:txBody>
                  <a:tcPr/>
                </a:tc>
                <a:extLst>
                  <a:ext uri="{0D108BD9-81ED-4DB2-BD59-A6C34878D82A}">
                    <a16:rowId xmlns:a16="http://schemas.microsoft.com/office/drawing/2014/main" val="10001"/>
                  </a:ext>
                </a:extLst>
              </a:tr>
              <a:tr h="370840">
                <a:tc>
                  <a:txBody>
                    <a:bodyPr/>
                    <a:lstStyle/>
                    <a:p>
                      <a:r>
                        <a:rPr lang="ru-RU" sz="1200" dirty="0"/>
                        <a:t>Поток бизнес-процессов</a:t>
                      </a:r>
                    </a:p>
                  </a:txBody>
                  <a:tcPr/>
                </a:tc>
                <a:tc>
                  <a:txBody>
                    <a:bodyPr/>
                    <a:lstStyle/>
                    <a:p>
                      <a:r>
                        <a:rPr lang="ru-RU" sz="1200" b="1" dirty="0"/>
                        <a:t>Диаграмма потоков данных</a:t>
                      </a:r>
                      <a:r>
                        <a:rPr lang="ru-RU" sz="1200" dirty="0"/>
                        <a:t> верхнего уровня представляет на высоком уровне абстракции, как бизнес-процесс работает с данными. </a:t>
                      </a:r>
                      <a:r>
                        <a:rPr lang="ru-RU" sz="1200" b="1" dirty="0"/>
                        <a:t>Диаграмма </a:t>
                      </a:r>
                      <a:r>
                        <a:rPr lang="ru-RU" sz="1200" b="1" dirty="0" err="1"/>
                        <a:t>swimlane</a:t>
                      </a:r>
                      <a:r>
                        <a:rPr lang="ru-RU" sz="1200" b="1" dirty="0"/>
                        <a:t> </a:t>
                      </a:r>
                      <a:r>
                        <a:rPr lang="ru-RU" sz="1200" dirty="0"/>
                        <a:t>показывают роли, участвующие в выполнении различных этапов в потоке бизнес-процессов.</a:t>
                      </a:r>
                    </a:p>
                    <a:p>
                      <a:r>
                        <a:rPr lang="ru-RU" sz="1200" dirty="0"/>
                        <a:t>Уточняющие уровни </a:t>
                      </a:r>
                      <a:r>
                        <a:rPr lang="ru-RU" sz="1200" b="1" dirty="0"/>
                        <a:t>диаграмм потоков данных </a:t>
                      </a:r>
                      <a:r>
                        <a:rPr lang="ru-RU" sz="1200" dirty="0"/>
                        <a:t>или </a:t>
                      </a:r>
                      <a:r>
                        <a:rPr lang="ru-RU" sz="1200" b="1" dirty="0"/>
                        <a:t>диаграмм </a:t>
                      </a:r>
                      <a:r>
                        <a:rPr lang="ru-RU" sz="1200" b="1" dirty="0" err="1"/>
                        <a:t>swimlane</a:t>
                      </a:r>
                      <a:r>
                        <a:rPr lang="ru-RU" sz="1200" b="1" dirty="0"/>
                        <a:t> </a:t>
                      </a:r>
                      <a:r>
                        <a:rPr lang="ru-RU" sz="1200" dirty="0"/>
                        <a:t>могут очень детально представлять потоки бизнес-процессов. Аналогично </a:t>
                      </a:r>
                      <a:r>
                        <a:rPr lang="ru-RU" sz="1200" b="1" dirty="0"/>
                        <a:t>диаграммы потоков </a:t>
                      </a:r>
                      <a:r>
                        <a:rPr lang="ru-RU" sz="1200" dirty="0"/>
                        <a:t>и </a:t>
                      </a:r>
                      <a:r>
                        <a:rPr lang="ru-RU" sz="1200" b="1" dirty="0"/>
                        <a:t>диаграммы действий </a:t>
                      </a:r>
                      <a:r>
                        <a:rPr lang="ru-RU" sz="1200" dirty="0"/>
                        <a:t>могут использоваться как на высоком, так и низком уровне абстракции, хотя чаще всего они используются для определения деталей процесса</a:t>
                      </a:r>
                    </a:p>
                  </a:txBody>
                  <a:tcPr/>
                </a:tc>
                <a:extLst>
                  <a:ext uri="{0D108BD9-81ED-4DB2-BD59-A6C34878D82A}">
                    <a16:rowId xmlns:a16="http://schemas.microsoft.com/office/drawing/2014/main" val="10002"/>
                  </a:ext>
                </a:extLst>
              </a:tr>
              <a:tr h="370840">
                <a:tc>
                  <a:txBody>
                    <a:bodyPr/>
                    <a:lstStyle/>
                    <a:p>
                      <a:r>
                        <a:rPr lang="ru-RU" sz="1200" dirty="0"/>
                        <a:t>Определения данных и связи объектов данных</a:t>
                      </a:r>
                    </a:p>
                  </a:txBody>
                  <a:tcPr/>
                </a:tc>
                <a:tc>
                  <a:txBody>
                    <a:bodyPr/>
                    <a:lstStyle/>
                    <a:p>
                      <a:r>
                        <a:rPr lang="ru-RU" sz="1200" b="1" dirty="0"/>
                        <a:t>Диаграмма «сущность–связь» </a:t>
                      </a:r>
                      <a:r>
                        <a:rPr lang="ru-RU" sz="1200" dirty="0"/>
                        <a:t>показывает логические отношения между объектами данных (сущностями). </a:t>
                      </a:r>
                      <a:r>
                        <a:rPr lang="ru-RU" sz="1200" b="1" dirty="0"/>
                        <a:t>Диаграмма классов </a:t>
                      </a:r>
                      <a:r>
                        <a:rPr lang="ru-RU" sz="1200" dirty="0"/>
                        <a:t>показывает логические связи между классами объектов и связанными с ними данными. </a:t>
                      </a:r>
                      <a:r>
                        <a:rPr lang="ru-RU" sz="1200" b="1" dirty="0"/>
                        <a:t>Словарь данных </a:t>
                      </a:r>
                      <a:r>
                        <a:rPr lang="ru-RU" sz="1200" dirty="0"/>
                        <a:t>содержит подробные определения структур данных и отдельных элементов данных. Сложные объекты данных последовательно разбиваются на составляющие элементы данных</a:t>
                      </a:r>
                    </a:p>
                  </a:txBody>
                  <a:tcPr/>
                </a:tc>
                <a:extLst>
                  <a:ext uri="{0D108BD9-81ED-4DB2-BD59-A6C34878D82A}">
                    <a16:rowId xmlns:a16="http://schemas.microsoft.com/office/drawing/2014/main" val="10003"/>
                  </a:ext>
                </a:extLst>
              </a:tr>
              <a:tr h="370840">
                <a:tc>
                  <a:txBody>
                    <a:bodyPr/>
                    <a:lstStyle/>
                    <a:p>
                      <a:r>
                        <a:rPr lang="ru-RU" sz="1200" dirty="0"/>
                        <a:t>Состояния системы</a:t>
                      </a:r>
                    </a:p>
                    <a:p>
                      <a:r>
                        <a:rPr lang="ru-RU" sz="1200" dirty="0"/>
                        <a:t>и объектов</a:t>
                      </a:r>
                    </a:p>
                  </a:txBody>
                  <a:tcPr/>
                </a:tc>
                <a:tc>
                  <a:txBody>
                    <a:bodyPr/>
                    <a:lstStyle/>
                    <a:p>
                      <a:r>
                        <a:rPr lang="ru-RU" sz="1200" b="1" dirty="0"/>
                        <a:t>Диаграммы переходов состояния </a:t>
                      </a:r>
                      <a:r>
                        <a:rPr lang="ru-RU" sz="1200" dirty="0"/>
                        <a:t>и </a:t>
                      </a:r>
                      <a:r>
                        <a:rPr lang="ru-RU" sz="1200" b="1" dirty="0"/>
                        <a:t>таблицы состояния</a:t>
                      </a:r>
                      <a:r>
                        <a:rPr lang="ru-RU" sz="1200" dirty="0"/>
                        <a:t> дают представление высокого уровня абстракции возможных состояний системы или объекта и изменений между состояниями, которые могут происходить в определенных обстоятельствах. Эти модели полезны, когда определенные объекты могут работать (и изменять свое состояние) во многих вариантах использования.</a:t>
                      </a:r>
                    </a:p>
                    <a:p>
                      <a:r>
                        <a:rPr lang="ru-RU" sz="1200" dirty="0"/>
                        <a:t>Некоторые аналитики создают </a:t>
                      </a:r>
                      <a:r>
                        <a:rPr lang="ru-RU" sz="1200" b="1" dirty="0"/>
                        <a:t>таблицу событий </a:t>
                      </a:r>
                      <a:r>
                        <a:rPr lang="ru-RU" sz="1200" dirty="0"/>
                        <a:t>и </a:t>
                      </a:r>
                      <a:r>
                        <a:rPr lang="ru-RU" sz="1200" b="1" dirty="0"/>
                        <a:t>реакций</a:t>
                      </a:r>
                      <a:r>
                        <a:rPr lang="ru-RU" sz="1200" dirty="0"/>
                        <a:t> в качестве инструмента определения границ продукта на основе внешних событий. В этой таблице можно также указать отдельные </a:t>
                      </a:r>
                      <a:r>
                        <a:rPr lang="ru-RU" sz="1200" b="1" dirty="0"/>
                        <a:t>функциональные требования </a:t>
                      </a:r>
                      <a:r>
                        <a:rPr lang="ru-RU" sz="1200" dirty="0"/>
                        <a:t>путем уточнения, как система должна вести себя в ответ на каждую комбинацию внешних событий и состояния системы. </a:t>
                      </a:r>
                      <a:r>
                        <a:rPr lang="ru-RU" sz="1200" b="1" dirty="0"/>
                        <a:t>Функциональные требования </a:t>
                      </a:r>
                      <a:r>
                        <a:rPr lang="ru-RU" sz="1200" dirty="0"/>
                        <a:t>предоставляют подробности того, как в точности поведение системы и пользователя должно приводить к изменениям состояний</a:t>
                      </a:r>
                    </a:p>
                  </a:txBody>
                  <a:tcPr/>
                </a:tc>
                <a:extLst>
                  <a:ext uri="{0D108BD9-81ED-4DB2-BD59-A6C34878D82A}">
                    <a16:rowId xmlns:a16="http://schemas.microsoft.com/office/drawing/2014/main" val="10004"/>
                  </a:ext>
                </a:extLst>
              </a:tr>
            </a:tbl>
          </a:graphicData>
        </a:graphic>
      </p:graphicFrame>
      <p:sp>
        <p:nvSpPr>
          <p:cNvPr id="4" name="Номер слайда 3"/>
          <p:cNvSpPr>
            <a:spLocks noGrp="1"/>
          </p:cNvSpPr>
          <p:nvPr>
            <p:ph type="sldNum" sz="quarter" idx="12"/>
          </p:nvPr>
        </p:nvSpPr>
        <p:spPr/>
        <p:txBody>
          <a:bodyPr/>
          <a:lstStyle/>
          <a:p>
            <a:fld id="{1839304A-9F6B-422B-83C1-DE52774CBED0}" type="slidenum">
              <a:rPr lang="ru-RU" smtClean="0"/>
              <a:pPr/>
              <a:t>21</a:t>
            </a:fld>
            <a:endParaRPr lang="ru-RU"/>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Выбор наиболее подходящих способов представления</a:t>
            </a:r>
          </a:p>
        </p:txBody>
      </p:sp>
      <p:graphicFrame>
        <p:nvGraphicFramePr>
          <p:cNvPr id="5" name="Содержимое 4"/>
          <p:cNvGraphicFramePr>
            <a:graphicFrameLocks noGrp="1"/>
          </p:cNvGraphicFramePr>
          <p:nvPr>
            <p:ph idx="1"/>
          </p:nvPr>
        </p:nvGraphicFramePr>
        <p:xfrm>
          <a:off x="493713" y="1273175"/>
          <a:ext cx="11382376" cy="4297680"/>
        </p:xfrm>
        <a:graphic>
          <a:graphicData uri="http://schemas.openxmlformats.org/drawingml/2006/table">
            <a:tbl>
              <a:tblPr firstRow="1" bandRow="1">
                <a:tableStyleId>{5C22544A-7EE6-4342-B048-85BDC9FD1C3A}</a:tableStyleId>
              </a:tblPr>
              <a:tblGrid>
                <a:gridCol w="1596344">
                  <a:extLst>
                    <a:ext uri="{9D8B030D-6E8A-4147-A177-3AD203B41FA5}">
                      <a16:colId xmlns:a16="http://schemas.microsoft.com/office/drawing/2014/main" val="20000"/>
                    </a:ext>
                  </a:extLst>
                </a:gridCol>
                <a:gridCol w="9786032">
                  <a:extLst>
                    <a:ext uri="{9D8B030D-6E8A-4147-A177-3AD203B41FA5}">
                      <a16:colId xmlns:a16="http://schemas.microsoft.com/office/drawing/2014/main" val="20001"/>
                    </a:ext>
                  </a:extLst>
                </a:gridCol>
              </a:tblGrid>
              <a:tr h="370840">
                <a:tc>
                  <a:txBody>
                    <a:bodyPr/>
                    <a:lstStyle/>
                    <a:p>
                      <a:r>
                        <a:rPr lang="ru-RU" sz="1200" dirty="0"/>
                        <a:t>Отображение информации</a:t>
                      </a:r>
                    </a:p>
                  </a:txBody>
                  <a:tcPr/>
                </a:tc>
                <a:tc>
                  <a:txBody>
                    <a:bodyPr/>
                    <a:lstStyle/>
                    <a:p>
                      <a:r>
                        <a:rPr lang="ru-RU" sz="1200" dirty="0"/>
                        <a:t>Способы представления</a:t>
                      </a:r>
                    </a:p>
                  </a:txBody>
                  <a:tcPr/>
                </a:tc>
                <a:extLst>
                  <a:ext uri="{0D108BD9-81ED-4DB2-BD59-A6C34878D82A}">
                    <a16:rowId xmlns:a16="http://schemas.microsoft.com/office/drawing/2014/main" val="10000"/>
                  </a:ext>
                </a:extLst>
              </a:tr>
              <a:tr h="370840">
                <a:tc>
                  <a:txBody>
                    <a:bodyPr/>
                    <a:lstStyle/>
                    <a:p>
                      <a:r>
                        <a:rPr lang="ru-RU" sz="1200" dirty="0"/>
                        <a:t>Сложная логика</a:t>
                      </a:r>
                    </a:p>
                  </a:txBody>
                  <a:tcPr/>
                </a:tc>
                <a:tc>
                  <a:txBody>
                    <a:bodyPr/>
                    <a:lstStyle/>
                    <a:p>
                      <a:r>
                        <a:rPr lang="ru-RU" sz="1200" b="1" dirty="0"/>
                        <a:t>Дерево решений </a:t>
                      </a:r>
                      <a:r>
                        <a:rPr lang="ru-RU" sz="1200" dirty="0"/>
                        <a:t>показывает возможные результаты связанных решений и условий. </a:t>
                      </a:r>
                      <a:r>
                        <a:rPr lang="ru-RU" sz="1200" b="1" dirty="0"/>
                        <a:t>Таблица решений </a:t>
                      </a:r>
                      <a:r>
                        <a:rPr lang="ru-RU" sz="1200" dirty="0"/>
                        <a:t>определяет уникальные функциональные требования, связанные с различными комбинациями результатов </a:t>
                      </a:r>
                      <a:r>
                        <a:rPr lang="ru-RU" sz="1200" dirty="0" err="1"/>
                        <a:t>true</a:t>
                      </a:r>
                      <a:r>
                        <a:rPr lang="ru-RU" sz="1200" dirty="0"/>
                        <a:t> и </a:t>
                      </a:r>
                      <a:r>
                        <a:rPr lang="ru-RU" sz="1200" dirty="0" err="1"/>
                        <a:t>false</a:t>
                      </a:r>
                      <a:r>
                        <a:rPr lang="ru-RU" sz="1200" dirty="0"/>
                        <a:t> для наборов решений или условий</a:t>
                      </a:r>
                    </a:p>
                  </a:txBody>
                  <a:tcPr/>
                </a:tc>
                <a:extLst>
                  <a:ext uri="{0D108BD9-81ED-4DB2-BD59-A6C34878D82A}">
                    <a16:rowId xmlns:a16="http://schemas.microsoft.com/office/drawing/2014/main" val="10001"/>
                  </a:ext>
                </a:extLst>
              </a:tr>
              <a:tr h="370840">
                <a:tc>
                  <a:txBody>
                    <a:bodyPr/>
                    <a:lstStyle/>
                    <a:p>
                      <a:r>
                        <a:rPr lang="ru-RU" sz="1200" dirty="0"/>
                        <a:t>Пользовательские</a:t>
                      </a:r>
                    </a:p>
                    <a:p>
                      <a:r>
                        <a:rPr lang="ru-RU" sz="1200" dirty="0"/>
                        <a:t>интерфейсы</a:t>
                      </a:r>
                    </a:p>
                  </a:txBody>
                  <a:tcPr/>
                </a:tc>
                <a:tc>
                  <a:txBody>
                    <a:bodyPr/>
                    <a:lstStyle/>
                    <a:p>
                      <a:r>
                        <a:rPr lang="ru-RU" sz="1200" b="1" dirty="0"/>
                        <a:t>Карта диалоговых окон </a:t>
                      </a:r>
                      <a:r>
                        <a:rPr lang="ru-RU" sz="1200" dirty="0"/>
                        <a:t>предоставляет высокоуровневое представление предлагаемого или фактического пользовательского интерфейса и показывает разные элементы отображения и пути навигации между ними. </a:t>
                      </a:r>
                      <a:r>
                        <a:rPr lang="ru-RU" sz="1200" b="1" dirty="0" err="1"/>
                        <a:t>Раскадровки</a:t>
                      </a:r>
                      <a:r>
                        <a:rPr lang="ru-RU" sz="1200" dirty="0"/>
                        <a:t> и </a:t>
                      </a:r>
                      <a:r>
                        <a:rPr lang="ru-RU" sz="1200" b="1" dirty="0"/>
                        <a:t>бумажные прототипы </a:t>
                      </a:r>
                      <a:r>
                        <a:rPr lang="ru-RU" sz="1200" dirty="0"/>
                        <a:t>дополняют карту диалоговых окон, показывая, что должно содержать каждое окно, но не предоставляя точных деталей. </a:t>
                      </a:r>
                      <a:r>
                        <a:rPr lang="ru-RU" sz="1200" b="1" dirty="0"/>
                        <a:t>Модели «отображение-действие-реакция» </a:t>
                      </a:r>
                      <a:r>
                        <a:rPr lang="ru-RU" sz="1200" dirty="0"/>
                        <a:t>описывают отображение и поведение требований на каждом экране.</a:t>
                      </a:r>
                    </a:p>
                    <a:p>
                      <a:r>
                        <a:rPr lang="ru-RU" sz="1200" dirty="0"/>
                        <a:t>Подробные </a:t>
                      </a:r>
                      <a:r>
                        <a:rPr lang="ru-RU" sz="1200" b="1" dirty="0"/>
                        <a:t>макеты экрана </a:t>
                      </a:r>
                      <a:r>
                        <a:rPr lang="ru-RU" sz="1200" dirty="0"/>
                        <a:t>и </a:t>
                      </a:r>
                      <a:r>
                        <a:rPr lang="ru-RU" sz="1200" b="1" dirty="0"/>
                        <a:t>бумажные прототипы </a:t>
                      </a:r>
                      <a:r>
                        <a:rPr lang="ru-RU" sz="1200" dirty="0"/>
                        <a:t>показывают в точности, как должны выглядеть элементы интерфейса. Определения полей данных и описания элементов управления пользовательским интерфейсом предоставляют дополнительные подробности</a:t>
                      </a:r>
                    </a:p>
                  </a:txBody>
                  <a:tcPr/>
                </a:tc>
                <a:extLst>
                  <a:ext uri="{0D108BD9-81ED-4DB2-BD59-A6C34878D82A}">
                    <a16:rowId xmlns:a16="http://schemas.microsoft.com/office/drawing/2014/main" val="10002"/>
                  </a:ext>
                </a:extLst>
              </a:tr>
              <a:tr h="370840">
                <a:tc>
                  <a:txBody>
                    <a:bodyPr/>
                    <a:lstStyle/>
                    <a:p>
                      <a:r>
                        <a:rPr lang="ru-RU" sz="1200" dirty="0"/>
                        <a:t>Описания задач</a:t>
                      </a:r>
                    </a:p>
                    <a:p>
                      <a:r>
                        <a:rPr lang="ru-RU" sz="1200" dirty="0"/>
                        <a:t>пользователей</a:t>
                      </a:r>
                    </a:p>
                  </a:txBody>
                  <a:tcPr/>
                </a:tc>
                <a:tc>
                  <a:txBody>
                    <a:bodyPr/>
                    <a:lstStyle/>
                    <a:p>
                      <a:r>
                        <a:rPr lang="ru-RU" sz="1200" b="1" dirty="0"/>
                        <a:t>Пользовательские истории</a:t>
                      </a:r>
                      <a:r>
                        <a:rPr lang="ru-RU" sz="1200" dirty="0"/>
                        <a:t>, </a:t>
                      </a:r>
                      <a:r>
                        <a:rPr lang="ru-RU" sz="1200" b="1" dirty="0"/>
                        <a:t>спецификации сценариев </a:t>
                      </a:r>
                      <a:r>
                        <a:rPr lang="ru-RU" sz="1200" dirty="0"/>
                        <a:t>и </a:t>
                      </a:r>
                      <a:r>
                        <a:rPr lang="ru-RU" sz="1200" b="1" dirty="0"/>
                        <a:t>вариантов использования </a:t>
                      </a:r>
                      <a:r>
                        <a:rPr lang="ru-RU" sz="1200" dirty="0"/>
                        <a:t>описывают задачи пользователей с различной степенью детализации. </a:t>
                      </a:r>
                      <a:r>
                        <a:rPr lang="ru-RU" sz="1200" b="1" dirty="0"/>
                        <a:t>Диаграммы </a:t>
                      </a:r>
                      <a:r>
                        <a:rPr lang="ru-RU" sz="1200" b="1" dirty="0" err="1"/>
                        <a:t>swimlane</a:t>
                      </a:r>
                      <a:r>
                        <a:rPr lang="ru-RU" sz="1200" b="1" dirty="0"/>
                        <a:t> </a:t>
                      </a:r>
                      <a:r>
                        <a:rPr lang="ru-RU" sz="1200" dirty="0"/>
                        <a:t>иллюстрируют бизнес-процесс или взаимодействие между многими действующими лицами и системой. </a:t>
                      </a:r>
                      <a:r>
                        <a:rPr lang="ru-RU" sz="1200" b="1" dirty="0"/>
                        <a:t>Блок-схемы</a:t>
                      </a:r>
                      <a:r>
                        <a:rPr lang="ru-RU" sz="1200" dirty="0"/>
                        <a:t> и </a:t>
                      </a:r>
                      <a:r>
                        <a:rPr lang="ru-RU" sz="1200" b="1" dirty="0"/>
                        <a:t>диаграммы действий</a:t>
                      </a:r>
                      <a:r>
                        <a:rPr lang="ru-RU" sz="1200" dirty="0"/>
                        <a:t> наглядно отображают направление диалога варианта использования и разветвляются на альтернативные направления и исключения.</a:t>
                      </a:r>
                    </a:p>
                    <a:p>
                      <a:r>
                        <a:rPr lang="ru-RU" sz="1200" b="1" dirty="0"/>
                        <a:t>Функциональные требования</a:t>
                      </a:r>
                      <a:r>
                        <a:rPr lang="ru-RU" sz="1200" dirty="0"/>
                        <a:t> предоставляют подробные описания, как система и пользователь будут взаимодействовать для достижения полезных результатов. </a:t>
                      </a:r>
                      <a:r>
                        <a:rPr lang="ru-RU" sz="1200" b="1" dirty="0"/>
                        <a:t>Варианты тестирования</a:t>
                      </a:r>
                      <a:r>
                        <a:rPr lang="ru-RU" sz="1200" dirty="0"/>
                        <a:t> предоставляют альтернативное представление низкого уровня абстракции, описывающее какое точно поведение следует ожидать от системы при определенных условиях входных данных, состоянии системы и действиях</a:t>
                      </a:r>
                    </a:p>
                  </a:txBody>
                  <a:tcPr/>
                </a:tc>
                <a:extLst>
                  <a:ext uri="{0D108BD9-81ED-4DB2-BD59-A6C34878D82A}">
                    <a16:rowId xmlns:a16="http://schemas.microsoft.com/office/drawing/2014/main" val="10003"/>
                  </a:ext>
                </a:extLst>
              </a:tr>
              <a:tr h="370840">
                <a:tc>
                  <a:txBody>
                    <a:bodyPr/>
                    <a:lstStyle/>
                    <a:p>
                      <a:r>
                        <a:rPr lang="ru-RU" sz="1200" dirty="0"/>
                        <a:t>Нефункциональные требования</a:t>
                      </a:r>
                    </a:p>
                    <a:p>
                      <a:r>
                        <a:rPr lang="ru-RU" sz="1200" dirty="0"/>
                        <a:t>(атрибуты качества,</a:t>
                      </a:r>
                    </a:p>
                    <a:p>
                      <a:r>
                        <a:rPr lang="ru-RU" sz="1200" dirty="0"/>
                        <a:t>ограничения)</a:t>
                      </a:r>
                    </a:p>
                  </a:txBody>
                  <a:tcPr/>
                </a:tc>
                <a:tc>
                  <a:txBody>
                    <a:bodyPr/>
                    <a:lstStyle/>
                    <a:p>
                      <a:r>
                        <a:rPr lang="ru-RU" sz="1200" dirty="0"/>
                        <a:t>Атрибуты качества и ограничения обычно пишутся в форме </a:t>
                      </a:r>
                      <a:r>
                        <a:rPr lang="ru-RU" sz="1200" b="1" dirty="0"/>
                        <a:t>текста</a:t>
                      </a:r>
                      <a:r>
                        <a:rPr lang="ru-RU" sz="1200" dirty="0"/>
                        <a:t> </a:t>
                      </a:r>
                      <a:r>
                        <a:rPr lang="ru-RU" sz="1200" b="1" dirty="0"/>
                        <a:t>на естественном языке</a:t>
                      </a:r>
                      <a:r>
                        <a:rPr lang="ru-RU" sz="1200" dirty="0"/>
                        <a:t>, но при этом часто не хватает точности и полноты.</a:t>
                      </a:r>
                    </a:p>
                  </a:txBody>
                  <a:tcPr/>
                </a:tc>
                <a:extLst>
                  <a:ext uri="{0D108BD9-81ED-4DB2-BD59-A6C34878D82A}">
                    <a16:rowId xmlns:a16="http://schemas.microsoft.com/office/drawing/2014/main" val="10004"/>
                  </a:ext>
                </a:extLst>
              </a:tr>
            </a:tbl>
          </a:graphicData>
        </a:graphic>
      </p:graphicFrame>
      <p:sp>
        <p:nvSpPr>
          <p:cNvPr id="4" name="Номер слайда 3"/>
          <p:cNvSpPr>
            <a:spLocks noGrp="1"/>
          </p:cNvSpPr>
          <p:nvPr>
            <p:ph type="sldNum" sz="quarter" idx="12"/>
          </p:nvPr>
        </p:nvSpPr>
        <p:spPr/>
        <p:txBody>
          <a:bodyPr/>
          <a:lstStyle/>
          <a:p>
            <a:fld id="{1839304A-9F6B-422B-83C1-DE52774CBED0}" type="slidenum">
              <a:rPr lang="ru-RU" smtClean="0"/>
              <a:pPr/>
              <a:t>22</a:t>
            </a:fld>
            <a:endParaRPr lang="ru-R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Требования учебного примера </a:t>
            </a:r>
            <a:r>
              <a:rPr lang="ru-RU" dirty="0" err="1"/>
              <a:t>Chemical</a:t>
            </a:r>
            <a:r>
              <a:rPr lang="ru-RU" dirty="0"/>
              <a:t> </a:t>
            </a:r>
            <a:r>
              <a:rPr lang="ru-RU" dirty="0" err="1"/>
              <a:t>Tracking</a:t>
            </a:r>
            <a:r>
              <a:rPr lang="ru-RU" dirty="0"/>
              <a:t> </a:t>
            </a:r>
            <a:r>
              <a:rPr lang="ru-RU" dirty="0" err="1"/>
              <a:t>System</a:t>
            </a:r>
            <a:endParaRPr lang="ru-RU" dirty="0"/>
          </a:p>
        </p:txBody>
      </p:sp>
      <p:sp>
        <p:nvSpPr>
          <p:cNvPr id="3" name="Содержимое 2"/>
          <p:cNvSpPr>
            <a:spLocks noGrp="1"/>
          </p:cNvSpPr>
          <p:nvPr>
            <p:ph idx="1"/>
          </p:nvPr>
        </p:nvSpPr>
        <p:spPr/>
        <p:txBody>
          <a:bodyPr>
            <a:normAutofit fontScale="92500" lnSpcReduction="10000"/>
          </a:bodyPr>
          <a:lstStyle/>
          <a:p>
            <a:r>
              <a:rPr lang="ru-RU" sz="1900" dirty="0"/>
              <a:t>Описаны потребности пользователей класса «Химики». Значимые уникальные существительные выделены </a:t>
            </a:r>
            <a:r>
              <a:rPr lang="ru-RU" sz="1900" b="1" dirty="0"/>
              <a:t>полужирным</a:t>
            </a:r>
            <a:r>
              <a:rPr lang="ru-RU" sz="1900" dirty="0"/>
              <a:t> начертанием, глаголы — </a:t>
            </a:r>
            <a:r>
              <a:rPr lang="ru-RU" sz="1900" i="1" dirty="0"/>
              <a:t>курсивом</a:t>
            </a:r>
            <a:r>
              <a:rPr lang="ru-RU" sz="1900" dirty="0"/>
              <a:t>, а условия </a:t>
            </a:r>
            <a:r>
              <a:rPr lang="ru-RU" sz="1900" b="1" i="1" dirty="0"/>
              <a:t>полужирным курсивом</a:t>
            </a:r>
            <a:r>
              <a:rPr lang="ru-RU" sz="1900" dirty="0"/>
              <a:t>:</a:t>
            </a:r>
          </a:p>
          <a:p>
            <a:r>
              <a:rPr lang="ru-RU" b="1" dirty="0"/>
              <a:t>Химик</a:t>
            </a:r>
            <a:r>
              <a:rPr lang="ru-RU" dirty="0"/>
              <a:t> или </a:t>
            </a:r>
            <a:r>
              <a:rPr lang="ru-RU" b="1" dirty="0"/>
              <a:t>сотрудник склада химикатов </a:t>
            </a:r>
            <a:r>
              <a:rPr lang="ru-RU" dirty="0"/>
              <a:t>может </a:t>
            </a:r>
            <a:r>
              <a:rPr lang="ru-RU" i="1" dirty="0"/>
              <a:t>разместить</a:t>
            </a:r>
            <a:r>
              <a:rPr lang="ru-RU" dirty="0"/>
              <a:t> </a:t>
            </a:r>
            <a:r>
              <a:rPr lang="ru-RU" b="1" dirty="0"/>
              <a:t>заказ</a:t>
            </a:r>
            <a:r>
              <a:rPr lang="ru-RU" dirty="0"/>
              <a:t> на один или несколько </a:t>
            </a:r>
            <a:r>
              <a:rPr lang="ru-RU" b="1" dirty="0"/>
              <a:t>химикатов</a:t>
            </a:r>
            <a:r>
              <a:rPr lang="ru-RU" dirty="0"/>
              <a:t>, </a:t>
            </a:r>
            <a:r>
              <a:rPr lang="ru-RU" b="1" i="1" dirty="0"/>
              <a:t>если пользователь уполномочен делать такие заказы</a:t>
            </a:r>
            <a:r>
              <a:rPr lang="ru-RU" dirty="0"/>
              <a:t>. </a:t>
            </a:r>
          </a:p>
          <a:p>
            <a:r>
              <a:rPr lang="ru-RU" b="1" dirty="0"/>
              <a:t>Заказ</a:t>
            </a:r>
            <a:r>
              <a:rPr lang="ru-RU" dirty="0"/>
              <a:t> может быть </a:t>
            </a:r>
            <a:r>
              <a:rPr lang="ru-RU" i="1" dirty="0"/>
              <a:t>выполнен</a:t>
            </a:r>
            <a:r>
              <a:rPr lang="ru-RU" dirty="0"/>
              <a:t> или посредством </a:t>
            </a:r>
            <a:r>
              <a:rPr lang="ru-RU" i="1" dirty="0"/>
              <a:t>доставки</a:t>
            </a:r>
            <a:r>
              <a:rPr lang="ru-RU" dirty="0"/>
              <a:t> </a:t>
            </a:r>
            <a:r>
              <a:rPr lang="ru-RU" b="1" dirty="0"/>
              <a:t>контейнера с химикатом</a:t>
            </a:r>
            <a:r>
              <a:rPr lang="ru-RU" dirty="0"/>
              <a:t>, который числится в </a:t>
            </a:r>
            <a:r>
              <a:rPr lang="ru-RU" b="1" dirty="0"/>
              <a:t>инвентарной описи товаров </a:t>
            </a:r>
            <a:r>
              <a:rPr lang="ru-RU" dirty="0"/>
              <a:t>на складе химикатов, или посредством размещения </a:t>
            </a:r>
            <a:r>
              <a:rPr lang="ru-RU" b="1" dirty="0"/>
              <a:t>заказа</a:t>
            </a:r>
            <a:r>
              <a:rPr lang="ru-RU" dirty="0"/>
              <a:t> на химикат у стороннего </a:t>
            </a:r>
            <a:r>
              <a:rPr lang="ru-RU" b="1" dirty="0"/>
              <a:t>поставщика</a:t>
            </a:r>
            <a:r>
              <a:rPr lang="ru-RU" dirty="0"/>
              <a:t>. </a:t>
            </a:r>
          </a:p>
          <a:p>
            <a:r>
              <a:rPr lang="ru-RU" b="1" i="1" dirty="0"/>
              <a:t>Если химикат относится к опасным</a:t>
            </a:r>
            <a:r>
              <a:rPr lang="ru-RU" dirty="0"/>
              <a:t>, он может быть </a:t>
            </a:r>
            <a:r>
              <a:rPr lang="ru-RU" i="1" dirty="0"/>
              <a:t>доставлен</a:t>
            </a:r>
            <a:r>
              <a:rPr lang="ru-RU" dirty="0"/>
              <a:t>, </a:t>
            </a:r>
            <a:r>
              <a:rPr lang="ru-RU" b="1" i="1" dirty="0"/>
              <a:t>только если пользователь прошел соответствующее обучение</a:t>
            </a:r>
            <a:r>
              <a:rPr lang="ru-RU" dirty="0"/>
              <a:t>. </a:t>
            </a:r>
          </a:p>
          <a:p>
            <a:r>
              <a:rPr lang="ru-RU" b="1" dirty="0"/>
              <a:t>Сотрудник</a:t>
            </a:r>
            <a:r>
              <a:rPr lang="ru-RU" dirty="0"/>
              <a:t>, размещающий заказ, </a:t>
            </a:r>
            <a:r>
              <a:rPr lang="ru-RU" i="1" dirty="0"/>
              <a:t>подготавливая</a:t>
            </a:r>
            <a:r>
              <a:rPr lang="ru-RU" dirty="0"/>
              <a:t> </a:t>
            </a:r>
            <a:r>
              <a:rPr lang="ru-RU" b="1" dirty="0"/>
              <a:t>заказ</a:t>
            </a:r>
            <a:r>
              <a:rPr lang="ru-RU" dirty="0"/>
              <a:t>, должен иметь возможность </a:t>
            </a:r>
            <a:r>
              <a:rPr lang="ru-RU" i="1" dirty="0"/>
              <a:t>искать</a:t>
            </a:r>
            <a:r>
              <a:rPr lang="ru-RU" dirty="0"/>
              <a:t> в интерактивном режиме нужный </a:t>
            </a:r>
            <a:r>
              <a:rPr lang="ru-RU" b="1" dirty="0"/>
              <a:t>химикат</a:t>
            </a:r>
            <a:r>
              <a:rPr lang="ru-RU" dirty="0"/>
              <a:t> в </a:t>
            </a:r>
            <a:r>
              <a:rPr lang="ru-RU" b="1" dirty="0"/>
              <a:t>каталогах поставщиков</a:t>
            </a:r>
            <a:r>
              <a:rPr lang="ru-RU" dirty="0"/>
              <a:t>.</a:t>
            </a:r>
          </a:p>
          <a:p>
            <a:r>
              <a:rPr lang="ru-RU" b="1" dirty="0"/>
              <a:t>Системе</a:t>
            </a:r>
            <a:r>
              <a:rPr lang="ru-RU" dirty="0"/>
              <a:t> необходимо </a:t>
            </a:r>
            <a:r>
              <a:rPr lang="ru-RU" i="1" dirty="0"/>
              <a:t>отслеживать</a:t>
            </a:r>
            <a:r>
              <a:rPr lang="ru-RU" dirty="0"/>
              <a:t> </a:t>
            </a:r>
            <a:r>
              <a:rPr lang="ru-RU" b="1" dirty="0"/>
              <a:t>состояние</a:t>
            </a:r>
            <a:r>
              <a:rPr lang="ru-RU" dirty="0"/>
              <a:t> каждого заказа с момента его подготовки и до момента его </a:t>
            </a:r>
            <a:r>
              <a:rPr lang="ru-RU" i="1" dirty="0"/>
              <a:t>выполнения</a:t>
            </a:r>
            <a:r>
              <a:rPr lang="ru-RU" dirty="0"/>
              <a:t> или </a:t>
            </a:r>
            <a:r>
              <a:rPr lang="ru-RU" i="1" dirty="0"/>
              <a:t>отмены</a:t>
            </a:r>
            <a:r>
              <a:rPr lang="ru-RU" dirty="0"/>
              <a:t>. Ей также необходимо </a:t>
            </a:r>
            <a:r>
              <a:rPr lang="ru-RU" i="1" dirty="0"/>
              <a:t>отслеживать</a:t>
            </a:r>
            <a:r>
              <a:rPr lang="ru-RU" dirty="0"/>
              <a:t> </a:t>
            </a:r>
            <a:r>
              <a:rPr lang="ru-RU" b="1" dirty="0"/>
              <a:t>историю</a:t>
            </a:r>
            <a:r>
              <a:rPr lang="ru-RU" dirty="0"/>
              <a:t> каждого </a:t>
            </a:r>
            <a:r>
              <a:rPr lang="ru-RU" b="1" dirty="0"/>
              <a:t>контейнера с химикатом </a:t>
            </a:r>
            <a:r>
              <a:rPr lang="ru-RU" dirty="0"/>
              <a:t>с момента его </a:t>
            </a:r>
            <a:r>
              <a:rPr lang="ru-RU" i="1" dirty="0"/>
              <a:t>получения</a:t>
            </a:r>
            <a:r>
              <a:rPr lang="ru-RU" dirty="0"/>
              <a:t> </a:t>
            </a:r>
            <a:r>
              <a:rPr lang="ru-RU" b="1" dirty="0"/>
              <a:t>компанией</a:t>
            </a:r>
            <a:r>
              <a:rPr lang="ru-RU" dirty="0"/>
              <a:t> до его полного </a:t>
            </a:r>
            <a:r>
              <a:rPr lang="ru-RU" i="1" dirty="0"/>
              <a:t>расходования</a:t>
            </a:r>
            <a:r>
              <a:rPr lang="ru-RU" dirty="0"/>
              <a:t> или </a:t>
            </a:r>
            <a:r>
              <a:rPr lang="ru-RU" i="1" dirty="0"/>
              <a:t>утилизации</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23</a:t>
            </a:fld>
            <a:endParaRPr lang="ru-RU"/>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Уровень 0 диаграммы потока данных для </a:t>
            </a:r>
            <a:r>
              <a:rPr lang="ru-RU" dirty="0" err="1"/>
              <a:t>Chemical</a:t>
            </a:r>
            <a:r>
              <a:rPr lang="ru-RU" dirty="0"/>
              <a:t> </a:t>
            </a:r>
            <a:r>
              <a:rPr lang="ru-RU" dirty="0" err="1"/>
              <a:t>Tracking</a:t>
            </a:r>
            <a:r>
              <a:rPr lang="ru-RU" dirty="0"/>
              <a:t> </a:t>
            </a:r>
            <a:r>
              <a:rPr lang="ru-RU" dirty="0" err="1"/>
              <a:t>System</a:t>
            </a:r>
            <a:br>
              <a:rPr lang="ru-RU" dirty="0"/>
            </a:br>
            <a:r>
              <a:rPr lang="ru-RU" dirty="0"/>
              <a:t>(с.269</a:t>
            </a:r>
            <a:r>
              <a:rPr lang="en-US" dirty="0"/>
              <a:t>[1]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24</a:t>
            </a:fld>
            <a:endParaRPr lang="ru-RU"/>
          </a:p>
        </p:txBody>
      </p:sp>
      <p:pic>
        <p:nvPicPr>
          <p:cNvPr id="10242" name="Picture 2"/>
          <p:cNvPicPr>
            <a:picLocks noChangeAspect="1" noChangeArrowheads="1"/>
          </p:cNvPicPr>
          <p:nvPr/>
        </p:nvPicPr>
        <p:blipFill>
          <a:blip r:embed="rId2" cstate="print"/>
          <a:srcRect/>
          <a:stretch>
            <a:fillRect/>
          </a:stretch>
        </p:blipFill>
        <p:spPr bwMode="auto">
          <a:xfrm>
            <a:off x="2360645" y="922884"/>
            <a:ext cx="6443630" cy="5718438"/>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Диаграмма </a:t>
            </a:r>
            <a:r>
              <a:rPr lang="en-US" dirty="0" err="1"/>
              <a:t>swimlane</a:t>
            </a:r>
            <a:r>
              <a:rPr lang="en-US" dirty="0"/>
              <a:t> </a:t>
            </a:r>
            <a:r>
              <a:rPr lang="ru-RU" dirty="0"/>
              <a:t>процесса в системе </a:t>
            </a:r>
            <a:r>
              <a:rPr lang="en-US" dirty="0"/>
              <a:t>Chemical Tracking System </a:t>
            </a:r>
            <a:r>
              <a:rPr lang="ru-RU" dirty="0"/>
              <a:t>(с.2</a:t>
            </a:r>
            <a:r>
              <a:rPr lang="en-US" dirty="0"/>
              <a:t>73[1]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25</a:t>
            </a:fld>
            <a:endParaRPr lang="ru-RU"/>
          </a:p>
        </p:txBody>
      </p:sp>
      <p:pic>
        <p:nvPicPr>
          <p:cNvPr id="11266" name="Picture 2"/>
          <p:cNvPicPr>
            <a:picLocks noChangeAspect="1" noChangeArrowheads="1"/>
          </p:cNvPicPr>
          <p:nvPr/>
        </p:nvPicPr>
        <p:blipFill>
          <a:blip r:embed="rId2" cstate="print"/>
          <a:srcRect/>
          <a:stretch>
            <a:fillRect/>
          </a:stretch>
        </p:blipFill>
        <p:spPr bwMode="auto">
          <a:xfrm>
            <a:off x="2478499" y="907790"/>
            <a:ext cx="6488219" cy="5698283"/>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2537927" y="801281"/>
            <a:ext cx="6316824" cy="6016795"/>
          </a:xfrm>
          <a:prstGeom prst="rect">
            <a:avLst/>
          </a:prstGeom>
          <a:noFill/>
          <a:ln w="9525">
            <a:noFill/>
            <a:miter lim="800000"/>
            <a:headEnd/>
            <a:tailEnd/>
          </a:ln>
        </p:spPr>
      </p:pic>
      <p:sp>
        <p:nvSpPr>
          <p:cNvPr id="2" name="Заголовок 1"/>
          <p:cNvSpPr>
            <a:spLocks noGrp="1"/>
          </p:cNvSpPr>
          <p:nvPr>
            <p:ph type="title"/>
          </p:nvPr>
        </p:nvSpPr>
        <p:spPr/>
        <p:txBody>
          <a:bodyPr/>
          <a:lstStyle/>
          <a:p>
            <a:r>
              <a:rPr lang="ru-RU" dirty="0"/>
              <a:t>Диаграмма переходов состояний для заказа химиката в </a:t>
            </a:r>
            <a:r>
              <a:rPr lang="ru-RU" dirty="0" err="1"/>
              <a:t>Chemical</a:t>
            </a:r>
            <a:br>
              <a:rPr lang="ru-RU" dirty="0"/>
            </a:br>
            <a:r>
              <a:rPr lang="ru-RU" dirty="0" err="1"/>
              <a:t>Tracking</a:t>
            </a:r>
            <a:r>
              <a:rPr lang="ru-RU" dirty="0"/>
              <a:t> </a:t>
            </a:r>
            <a:r>
              <a:rPr lang="ru-RU" dirty="0" err="1"/>
              <a:t>System</a:t>
            </a:r>
            <a:r>
              <a:rPr lang="ru-RU" dirty="0"/>
              <a:t> (с.2</a:t>
            </a:r>
            <a:r>
              <a:rPr lang="en-US" dirty="0"/>
              <a:t>7</a:t>
            </a:r>
            <a:r>
              <a:rPr lang="ru-RU" dirty="0"/>
              <a:t>5</a:t>
            </a:r>
            <a:r>
              <a:rPr lang="en-US" dirty="0"/>
              <a:t>[1]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26</a:t>
            </a:fld>
            <a:endParaRPr lang="ru-R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Таблица состояний заказа химиката в системе </a:t>
            </a:r>
            <a:r>
              <a:rPr lang="ru-RU" dirty="0" err="1"/>
              <a:t>Chemical</a:t>
            </a:r>
            <a:r>
              <a:rPr lang="ru-RU" dirty="0"/>
              <a:t> </a:t>
            </a:r>
            <a:r>
              <a:rPr lang="ru-RU" dirty="0" err="1"/>
              <a:t>Tracking</a:t>
            </a:r>
            <a:r>
              <a:rPr lang="ru-RU" dirty="0"/>
              <a:t> </a:t>
            </a:r>
            <a:r>
              <a:rPr lang="ru-RU" dirty="0" err="1"/>
              <a:t>System</a:t>
            </a:r>
            <a:r>
              <a:rPr lang="ru-RU" dirty="0"/>
              <a:t> (с.2</a:t>
            </a:r>
            <a:r>
              <a:rPr lang="en-US" dirty="0"/>
              <a:t>7</a:t>
            </a:r>
            <a:r>
              <a:rPr lang="ru-RU" dirty="0"/>
              <a:t>7</a:t>
            </a:r>
            <a:r>
              <a:rPr lang="en-US" dirty="0"/>
              <a:t>[1]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27</a:t>
            </a:fld>
            <a:endParaRPr lang="ru-RU"/>
          </a:p>
        </p:txBody>
      </p:sp>
      <p:pic>
        <p:nvPicPr>
          <p:cNvPr id="13314" name="Picture 2"/>
          <p:cNvPicPr>
            <a:picLocks noChangeAspect="1" noChangeArrowheads="1"/>
          </p:cNvPicPr>
          <p:nvPr/>
        </p:nvPicPr>
        <p:blipFill>
          <a:blip r:embed="rId2" cstate="print"/>
          <a:srcRect/>
          <a:stretch>
            <a:fillRect/>
          </a:stretch>
        </p:blipFill>
        <p:spPr bwMode="auto">
          <a:xfrm>
            <a:off x="1418254" y="1323390"/>
            <a:ext cx="9087336" cy="466337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srcRect/>
          <a:stretch>
            <a:fillRect/>
          </a:stretch>
        </p:blipFill>
        <p:spPr bwMode="auto">
          <a:xfrm>
            <a:off x="5691677" y="523809"/>
            <a:ext cx="4824121" cy="6203462"/>
          </a:xfrm>
          <a:prstGeom prst="rect">
            <a:avLst/>
          </a:prstGeom>
          <a:noFill/>
          <a:ln w="9525">
            <a:noFill/>
            <a:miter lim="800000"/>
            <a:headEnd/>
            <a:tailEnd/>
          </a:ln>
        </p:spPr>
      </p:pic>
      <p:sp>
        <p:nvSpPr>
          <p:cNvPr id="2" name="Заголовок 1"/>
          <p:cNvSpPr>
            <a:spLocks noGrp="1"/>
          </p:cNvSpPr>
          <p:nvPr>
            <p:ph type="title"/>
          </p:nvPr>
        </p:nvSpPr>
        <p:spPr/>
        <p:txBody>
          <a:bodyPr/>
          <a:lstStyle/>
          <a:p>
            <a:r>
              <a:rPr lang="ru-RU" dirty="0"/>
              <a:t>Карта диалоговых окон для варианта использования «Заказ химиката»</a:t>
            </a:r>
            <a:br>
              <a:rPr lang="ru-RU" dirty="0"/>
            </a:br>
            <a:r>
              <a:rPr lang="ru-RU" dirty="0"/>
              <a:t>в системе </a:t>
            </a:r>
            <a:r>
              <a:rPr lang="ru-RU" dirty="0" err="1"/>
              <a:t>Chemical</a:t>
            </a:r>
            <a:r>
              <a:rPr lang="ru-RU" dirty="0"/>
              <a:t> </a:t>
            </a:r>
            <a:r>
              <a:rPr lang="ru-RU" dirty="0" err="1"/>
              <a:t>Tracking</a:t>
            </a:r>
            <a:r>
              <a:rPr lang="ru-RU" dirty="0"/>
              <a:t> </a:t>
            </a:r>
            <a:r>
              <a:rPr lang="ru-RU" dirty="0" err="1"/>
              <a:t>System</a:t>
            </a:r>
            <a:r>
              <a:rPr lang="ru-RU" dirty="0"/>
              <a:t> (с.280</a:t>
            </a:r>
            <a:r>
              <a:rPr lang="en-US" dirty="0"/>
              <a:t>[1]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28</a:t>
            </a:fld>
            <a:endParaRPr lang="ru-RU"/>
          </a:p>
        </p:txBody>
      </p:sp>
      <p:pic>
        <p:nvPicPr>
          <p:cNvPr id="16386" name="Picture 2" descr="https://i.pinimg.com/originals/0f/c2/81/0fc281d70122b56c43e2429366cf7f45.png"/>
          <p:cNvPicPr>
            <a:picLocks noChangeAspect="1" noChangeArrowheads="1"/>
          </p:cNvPicPr>
          <p:nvPr/>
        </p:nvPicPr>
        <p:blipFill>
          <a:blip r:embed="rId3" cstate="print"/>
          <a:srcRect/>
          <a:stretch>
            <a:fillRect/>
          </a:stretch>
        </p:blipFill>
        <p:spPr bwMode="auto">
          <a:xfrm>
            <a:off x="531846" y="1947765"/>
            <a:ext cx="5029265" cy="3771949"/>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Таблица и дерево решений с логикой, управляющей принятием или отклонением заказа нового химиката в системе </a:t>
            </a:r>
            <a:r>
              <a:rPr lang="ru-RU" dirty="0" err="1"/>
              <a:t>Chemical</a:t>
            </a:r>
            <a:r>
              <a:rPr lang="ru-RU" dirty="0"/>
              <a:t> </a:t>
            </a:r>
            <a:r>
              <a:rPr lang="ru-RU" dirty="0" err="1"/>
              <a:t>Tracking</a:t>
            </a:r>
            <a:r>
              <a:rPr lang="ru-RU" dirty="0"/>
              <a:t> </a:t>
            </a:r>
            <a:r>
              <a:rPr lang="ru-RU" dirty="0" err="1"/>
              <a:t>System</a:t>
            </a:r>
            <a:r>
              <a:rPr lang="ru-RU" dirty="0"/>
              <a:t> (с.283</a:t>
            </a:r>
            <a:r>
              <a:rPr lang="en-US" dirty="0"/>
              <a:t>[1]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29</a:t>
            </a:fld>
            <a:endParaRPr lang="ru-RU"/>
          </a:p>
        </p:txBody>
      </p:sp>
      <p:pic>
        <p:nvPicPr>
          <p:cNvPr id="15363" name="Picture 3"/>
          <p:cNvPicPr>
            <a:picLocks noChangeAspect="1" noChangeArrowheads="1"/>
          </p:cNvPicPr>
          <p:nvPr/>
        </p:nvPicPr>
        <p:blipFill>
          <a:blip r:embed="rId2" cstate="print"/>
          <a:srcRect/>
          <a:stretch>
            <a:fillRect/>
          </a:stretch>
        </p:blipFill>
        <p:spPr bwMode="auto">
          <a:xfrm>
            <a:off x="4194890" y="2182783"/>
            <a:ext cx="7810500" cy="4171950"/>
          </a:xfrm>
          <a:prstGeom prst="rect">
            <a:avLst/>
          </a:prstGeom>
          <a:noFill/>
          <a:ln w="9525">
            <a:noFill/>
            <a:miter lim="800000"/>
            <a:headEnd/>
            <a:tailEnd/>
          </a:ln>
        </p:spPr>
      </p:pic>
      <p:pic>
        <p:nvPicPr>
          <p:cNvPr id="15362" name="Picture 2"/>
          <p:cNvPicPr>
            <a:picLocks noChangeAspect="1" noChangeArrowheads="1"/>
          </p:cNvPicPr>
          <p:nvPr/>
        </p:nvPicPr>
        <p:blipFill>
          <a:blip r:embed="rId3" cstate="print"/>
          <a:srcRect/>
          <a:stretch>
            <a:fillRect/>
          </a:stretch>
        </p:blipFill>
        <p:spPr bwMode="auto">
          <a:xfrm>
            <a:off x="368463" y="1206371"/>
            <a:ext cx="4474126" cy="1954654"/>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Диаграмма «сущность–связь» системы </a:t>
            </a:r>
            <a:r>
              <a:rPr lang="en-US" dirty="0"/>
              <a:t>Chemical Tracking</a:t>
            </a:r>
            <a:r>
              <a:rPr lang="ru-RU" dirty="0"/>
              <a:t> </a:t>
            </a:r>
            <a:r>
              <a:rPr lang="en-US" dirty="0"/>
              <a:t>System </a:t>
            </a:r>
            <a:r>
              <a:rPr lang="ru-RU" dirty="0"/>
              <a:t>(с.2</a:t>
            </a:r>
            <a:r>
              <a:rPr lang="en-US" dirty="0"/>
              <a:t>92[1]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30</a:t>
            </a:fld>
            <a:endParaRPr lang="ru-RU"/>
          </a:p>
        </p:txBody>
      </p:sp>
      <p:pic>
        <p:nvPicPr>
          <p:cNvPr id="75778" name="Picture 2"/>
          <p:cNvPicPr>
            <a:picLocks noChangeAspect="1" noChangeArrowheads="1"/>
          </p:cNvPicPr>
          <p:nvPr/>
        </p:nvPicPr>
        <p:blipFill>
          <a:blip r:embed="rId2" cstate="print"/>
          <a:srcRect/>
          <a:stretch>
            <a:fillRect/>
          </a:stretch>
        </p:blipFill>
        <p:spPr bwMode="auto">
          <a:xfrm>
            <a:off x="2202024" y="685512"/>
            <a:ext cx="7063274" cy="6034129"/>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Диаграмма варианта использования системы </a:t>
            </a:r>
            <a:r>
              <a:rPr lang="ru-RU" dirty="0" err="1"/>
              <a:t>Chemical</a:t>
            </a:r>
            <a:r>
              <a:rPr lang="ru-RU" dirty="0"/>
              <a:t> </a:t>
            </a:r>
            <a:r>
              <a:rPr lang="ru-RU" dirty="0" err="1"/>
              <a:t>Tracking</a:t>
            </a:r>
            <a:r>
              <a:rPr lang="ru-RU" dirty="0"/>
              <a:t> </a:t>
            </a:r>
            <a:r>
              <a:rPr lang="ru-RU" dirty="0" err="1"/>
              <a:t>System</a:t>
            </a:r>
            <a:r>
              <a:rPr lang="en-US" dirty="0"/>
              <a:t> </a:t>
            </a:r>
            <a:r>
              <a:rPr lang="ru-RU" dirty="0"/>
              <a:t>(с.173</a:t>
            </a:r>
            <a:r>
              <a:rPr lang="en-US" dirty="0"/>
              <a:t>[1]</a:t>
            </a:r>
            <a:r>
              <a:rPr lang="ru-RU" dirty="0"/>
              <a:t>)</a:t>
            </a:r>
          </a:p>
        </p:txBody>
      </p:sp>
      <p:sp>
        <p:nvSpPr>
          <p:cNvPr id="4" name="Номер слайда 3"/>
          <p:cNvSpPr>
            <a:spLocks noGrp="1"/>
          </p:cNvSpPr>
          <p:nvPr>
            <p:ph type="sldNum" sz="quarter" idx="12"/>
          </p:nvPr>
        </p:nvSpPr>
        <p:spPr/>
        <p:txBody>
          <a:bodyPr/>
          <a:lstStyle/>
          <a:p>
            <a:fld id="{1839304A-9F6B-422B-83C1-DE52774CBED0}" type="slidenum">
              <a:rPr lang="ru-RU" smtClean="0"/>
              <a:pPr/>
              <a:t>31</a:t>
            </a:fld>
            <a:endParaRPr lang="ru-RU"/>
          </a:p>
        </p:txBody>
      </p:sp>
      <p:pic>
        <p:nvPicPr>
          <p:cNvPr id="76802" name="Picture 2"/>
          <p:cNvPicPr>
            <a:picLocks noChangeAspect="1" noChangeArrowheads="1"/>
          </p:cNvPicPr>
          <p:nvPr/>
        </p:nvPicPr>
        <p:blipFill>
          <a:blip r:embed="rId2" cstate="print"/>
          <a:srcRect/>
          <a:stretch>
            <a:fillRect/>
          </a:stretch>
        </p:blipFill>
        <p:spPr bwMode="auto">
          <a:xfrm>
            <a:off x="119543" y="1268957"/>
            <a:ext cx="6417773" cy="5155552"/>
          </a:xfrm>
          <a:prstGeom prst="rect">
            <a:avLst/>
          </a:prstGeom>
          <a:noFill/>
          <a:ln w="9525">
            <a:noFill/>
            <a:miter lim="800000"/>
            <a:headEnd/>
            <a:tailEnd/>
          </a:ln>
        </p:spPr>
      </p:pic>
      <p:pic>
        <p:nvPicPr>
          <p:cNvPr id="76803" name="Picture 3"/>
          <p:cNvPicPr>
            <a:picLocks noChangeAspect="1" noChangeArrowheads="1"/>
          </p:cNvPicPr>
          <p:nvPr/>
        </p:nvPicPr>
        <p:blipFill>
          <a:blip r:embed="rId3" cstate="print"/>
          <a:srcRect/>
          <a:stretch>
            <a:fillRect/>
          </a:stretch>
        </p:blipFill>
        <p:spPr bwMode="auto">
          <a:xfrm>
            <a:off x="6475449" y="1138461"/>
            <a:ext cx="5533572" cy="5032250"/>
          </a:xfrm>
          <a:prstGeom prst="rect">
            <a:avLst/>
          </a:prstGeom>
          <a:noFill/>
          <a:ln w="9525">
            <a:noFill/>
            <a:miter lim="800000"/>
            <a:headEnd/>
            <a:tailEnd/>
          </a:ln>
        </p:spPr>
      </p:pic>
      <p:cxnSp>
        <p:nvCxnSpPr>
          <p:cNvPr id="8" name="Скругленная соединительная линия 7"/>
          <p:cNvCxnSpPr/>
          <p:nvPr/>
        </p:nvCxnSpPr>
        <p:spPr>
          <a:xfrm flipV="1">
            <a:off x="2733869" y="1231642"/>
            <a:ext cx="3778898" cy="2099387"/>
          </a:xfrm>
          <a:prstGeom prst="curvedConnector3">
            <a:avLst>
              <a:gd name="adj1" fmla="val 30494"/>
            </a:avLst>
          </a:prstGeom>
          <a:ln w="38100">
            <a:solidFill>
              <a:schemeClr val="accent3"/>
            </a:solidFill>
            <a:tailEnd type="arrow"/>
          </a:ln>
        </p:spPr>
        <p:style>
          <a:lnRef idx="1">
            <a:schemeClr val="accent1"/>
          </a:lnRef>
          <a:fillRef idx="0">
            <a:schemeClr val="accent1"/>
          </a:fillRef>
          <a:effectRef idx="0">
            <a:schemeClr val="accent1"/>
          </a:effectRef>
          <a:fontRef idx="minor">
            <a:schemeClr val="tx1"/>
          </a:fontRef>
        </p:style>
      </p:cxnSp>
      <p:pic>
        <p:nvPicPr>
          <p:cNvPr id="76804" name="Picture 4"/>
          <p:cNvPicPr>
            <a:picLocks noChangeAspect="1" noChangeArrowheads="1"/>
          </p:cNvPicPr>
          <p:nvPr/>
        </p:nvPicPr>
        <p:blipFill>
          <a:blip r:embed="rId4" cstate="print"/>
          <a:srcRect/>
          <a:stretch>
            <a:fillRect/>
          </a:stretch>
        </p:blipFill>
        <p:spPr bwMode="auto">
          <a:xfrm>
            <a:off x="195924" y="5232430"/>
            <a:ext cx="2547258" cy="469088"/>
          </a:xfrm>
          <a:prstGeom prst="rect">
            <a:avLst/>
          </a:prstGeom>
          <a:noFill/>
          <a:ln w="9525">
            <a:noFill/>
            <a:miter lim="800000"/>
            <a:headEnd/>
            <a:tailEnd/>
          </a:ln>
        </p:spPr>
      </p:pic>
      <p:pic>
        <p:nvPicPr>
          <p:cNvPr id="76805" name="Picture 5"/>
          <p:cNvPicPr>
            <a:picLocks noChangeAspect="1" noChangeArrowheads="1"/>
          </p:cNvPicPr>
          <p:nvPr/>
        </p:nvPicPr>
        <p:blipFill>
          <a:blip r:embed="rId5" cstate="print"/>
          <a:srcRect/>
          <a:stretch>
            <a:fillRect/>
          </a:stretch>
        </p:blipFill>
        <p:spPr bwMode="auto">
          <a:xfrm>
            <a:off x="606490" y="5775719"/>
            <a:ext cx="2885978" cy="1016964"/>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Ф-модель (цикл работы с требованиями)</a:t>
            </a:r>
          </a:p>
        </p:txBody>
      </p:sp>
      <p:sp>
        <p:nvSpPr>
          <p:cNvPr id="3" name="Содержимое 2"/>
          <p:cNvSpPr>
            <a:spLocks noGrp="1"/>
          </p:cNvSpPr>
          <p:nvPr>
            <p:ph idx="1"/>
          </p:nvPr>
        </p:nvSpPr>
        <p:spPr>
          <a:xfrm>
            <a:off x="6699380" y="1272541"/>
            <a:ext cx="5176510" cy="4853624"/>
          </a:xfrm>
        </p:spPr>
        <p:txBody>
          <a:bodyPr/>
          <a:lstStyle/>
          <a:p>
            <a:r>
              <a:rPr lang="ru-RU" dirty="0"/>
              <a:t>Обычно термин </a:t>
            </a:r>
            <a:r>
              <a:rPr lang="ru-RU" b="1" dirty="0"/>
              <a:t>«</a:t>
            </a:r>
            <a:r>
              <a:rPr lang="ru-RU" b="1" dirty="0" err="1"/>
              <a:t>валидация</a:t>
            </a:r>
            <a:r>
              <a:rPr lang="ru-RU" b="1" dirty="0"/>
              <a:t>» </a:t>
            </a:r>
            <a:r>
              <a:rPr lang="ru-RU" dirty="0"/>
              <a:t>употребляется для названия деятельности, связанной именно с проверкой внешней правильности, адекватности чего-то: документов, программных решений, программно-аппаратных систем. </a:t>
            </a:r>
          </a:p>
          <a:p>
            <a:r>
              <a:rPr lang="ru-RU" dirty="0"/>
              <a:t>Для проверки внутренней корректности — однозначности, непротиворечивости и пр. — используется термин </a:t>
            </a:r>
            <a:r>
              <a:rPr lang="ru-RU" b="1" dirty="0"/>
              <a:t>«верификация».</a:t>
            </a:r>
          </a:p>
        </p:txBody>
      </p:sp>
      <p:sp>
        <p:nvSpPr>
          <p:cNvPr id="4" name="Номер слайда 3"/>
          <p:cNvSpPr>
            <a:spLocks noGrp="1"/>
          </p:cNvSpPr>
          <p:nvPr>
            <p:ph type="sldNum" sz="quarter" idx="12"/>
          </p:nvPr>
        </p:nvSpPr>
        <p:spPr/>
        <p:txBody>
          <a:bodyPr/>
          <a:lstStyle/>
          <a:p>
            <a:fld id="{1839304A-9F6B-422B-83C1-DE52774CBED0}" type="slidenum">
              <a:rPr lang="ru-RU" smtClean="0"/>
              <a:pPr/>
              <a:t>32</a:t>
            </a:fld>
            <a:endParaRPr lang="ru-RU"/>
          </a:p>
        </p:txBody>
      </p:sp>
      <p:pic>
        <p:nvPicPr>
          <p:cNvPr id="5122" name="Picture 2"/>
          <p:cNvPicPr>
            <a:picLocks noChangeAspect="1" noChangeArrowheads="1"/>
          </p:cNvPicPr>
          <p:nvPr/>
        </p:nvPicPr>
        <p:blipFill>
          <a:blip r:embed="rId2" cstate="print"/>
          <a:srcRect/>
          <a:stretch>
            <a:fillRect/>
          </a:stretch>
        </p:blipFill>
        <p:spPr bwMode="auto">
          <a:xfrm>
            <a:off x="177087" y="1297668"/>
            <a:ext cx="6512962" cy="52174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Критерии верификации требований</a:t>
            </a:r>
          </a:p>
        </p:txBody>
      </p:sp>
      <p:sp>
        <p:nvSpPr>
          <p:cNvPr id="3" name="Содержимое 2"/>
          <p:cNvSpPr>
            <a:spLocks noGrp="1"/>
          </p:cNvSpPr>
          <p:nvPr>
            <p:ph idx="1"/>
          </p:nvPr>
        </p:nvSpPr>
        <p:spPr>
          <a:xfrm>
            <a:off x="494259" y="1272540"/>
            <a:ext cx="11381631" cy="5221565"/>
          </a:xfrm>
        </p:spPr>
        <p:txBody>
          <a:bodyPr>
            <a:normAutofit fontScale="77500" lnSpcReduction="20000"/>
          </a:bodyPr>
          <a:lstStyle/>
          <a:p>
            <a:pPr lvl="0" fontAlgn="base"/>
            <a:r>
              <a:rPr lang="ru-RU" sz="2800" b="1" dirty="0"/>
              <a:t>Полнота</a:t>
            </a:r>
            <a:br>
              <a:rPr lang="ru-RU" sz="2800" b="1" dirty="0"/>
            </a:br>
            <a:r>
              <a:rPr lang="ru-RU" sz="2800" dirty="0"/>
              <a:t>Полнота отдельного требования — свойство, означающее, что текст требования не требует дополнительной детализации, то есть в нем предусмотрены все необходимые нюансы, особенности и детали данного требования. </a:t>
            </a:r>
          </a:p>
          <a:p>
            <a:r>
              <a:rPr lang="ru-RU" sz="2800" b="1" dirty="0"/>
              <a:t>Ясность</a:t>
            </a:r>
            <a:br>
              <a:rPr lang="ru-RU" sz="2800" b="1" dirty="0"/>
            </a:br>
            <a:r>
              <a:rPr lang="ru-RU" sz="2800" dirty="0"/>
              <a:t>Требование обладает свойством ясности, если оно сходным образом воспринимается всеми совладельцами системы.</a:t>
            </a:r>
          </a:p>
          <a:p>
            <a:pPr lvl="0" fontAlgn="base"/>
            <a:r>
              <a:rPr lang="ru-RU" sz="2800" b="1" dirty="0"/>
              <a:t>Корректность и согласованность</a:t>
            </a:r>
            <a:br>
              <a:rPr lang="ru-RU" sz="2800" b="1" dirty="0"/>
            </a:br>
            <a:r>
              <a:rPr lang="ru-RU" sz="2800" dirty="0"/>
              <a:t>Требования пользователей не должны противоречить </a:t>
            </a:r>
            <a:r>
              <a:rPr lang="ru-RU" sz="2800" dirty="0" err="1"/>
              <a:t>бизнес-требованиям</a:t>
            </a:r>
            <a:r>
              <a:rPr lang="ru-RU" sz="2800" dirty="0"/>
              <a:t>, а функциональные требования — требованиям пользователя. </a:t>
            </a:r>
          </a:p>
          <a:p>
            <a:r>
              <a:rPr lang="ru-RU" sz="2800" b="1" dirty="0" err="1"/>
              <a:t>Проверяемость</a:t>
            </a:r>
            <a:br>
              <a:rPr lang="ru-RU" sz="2800" b="1" dirty="0"/>
            </a:br>
            <a:r>
              <a:rPr lang="ru-RU" sz="2800" dirty="0"/>
              <a:t>Если требование изложено на языке, понятном и одинаково воспринимаемом участниками процесса создания информационной системы, причем оно является полным, т.е. ни одна из важных для реализации деталей не упущена - значит, это требование можно проверить. </a:t>
            </a:r>
          </a:p>
          <a:p>
            <a:r>
              <a:rPr lang="ru-RU" sz="2800" b="1" dirty="0"/>
              <a:t>Необходимость и осуществимость</a:t>
            </a:r>
            <a:br>
              <a:rPr lang="ru-RU" sz="2800" b="1" dirty="0"/>
            </a:br>
            <a:r>
              <a:rPr lang="ru-RU" sz="2800" dirty="0"/>
              <a:t>Определяется разумным балансом между ценностью (степенью необходимости и полезности) и потребляемыми ресурсами.</a:t>
            </a:r>
          </a:p>
          <a:p>
            <a:endParaRPr lang="ru-RU" dirty="0"/>
          </a:p>
        </p:txBody>
      </p:sp>
      <p:sp>
        <p:nvSpPr>
          <p:cNvPr id="4" name="Номер слайда 3"/>
          <p:cNvSpPr>
            <a:spLocks noGrp="1"/>
          </p:cNvSpPr>
          <p:nvPr>
            <p:ph type="sldNum" sz="quarter" idx="12"/>
          </p:nvPr>
        </p:nvSpPr>
        <p:spPr/>
        <p:txBody>
          <a:bodyPr/>
          <a:lstStyle/>
          <a:p>
            <a:fld id="{1839304A-9F6B-422B-83C1-DE52774CBED0}" type="slidenum">
              <a:rPr lang="ru-RU" smtClean="0"/>
              <a:pPr/>
              <a:t>33</a:t>
            </a:fld>
            <a:endParaRPr lang="ru-RU"/>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Задача – убрать неоднозначные слова и фразы</a:t>
            </a:r>
          </a:p>
        </p:txBody>
      </p:sp>
      <p:sp>
        <p:nvSpPr>
          <p:cNvPr id="3" name="Содержимое 2"/>
          <p:cNvSpPr>
            <a:spLocks noGrp="1"/>
          </p:cNvSpPr>
          <p:nvPr>
            <p:ph idx="1"/>
          </p:nvPr>
        </p:nvSpPr>
        <p:spPr>
          <a:xfrm>
            <a:off x="494259" y="1272541"/>
            <a:ext cx="11381631" cy="5230896"/>
          </a:xfrm>
        </p:spPr>
        <p:txBody>
          <a:bodyPr>
            <a:normAutofit fontScale="55000" lnSpcReduction="20000"/>
          </a:bodyPr>
          <a:lstStyle/>
          <a:p>
            <a:r>
              <a:rPr lang="ru-RU" dirty="0"/>
              <a:t>Приемлемый, адекватный</a:t>
            </a:r>
          </a:p>
          <a:p>
            <a:r>
              <a:rPr lang="ru-RU" dirty="0"/>
              <a:t>И/или</a:t>
            </a:r>
          </a:p>
          <a:p>
            <a:r>
              <a:rPr lang="ru-RU" dirty="0"/>
              <a:t>Практически выполнимо</a:t>
            </a:r>
          </a:p>
          <a:p>
            <a:r>
              <a:rPr lang="ru-RU" dirty="0"/>
              <a:t>По меньшей мере, как минимум, не более чем, не должно превышать</a:t>
            </a:r>
          </a:p>
          <a:p>
            <a:r>
              <a:rPr lang="ru-RU" dirty="0"/>
              <a:t>Наилучший, самый больший, большинство</a:t>
            </a:r>
          </a:p>
          <a:p>
            <a:r>
              <a:rPr lang="ru-RU" dirty="0"/>
              <a:t>Между, от X до Y</a:t>
            </a:r>
          </a:p>
          <a:p>
            <a:r>
              <a:rPr lang="ru-RU" dirty="0"/>
              <a:t>Зависит от</a:t>
            </a:r>
          </a:p>
          <a:p>
            <a:r>
              <a:rPr lang="ru-RU" dirty="0"/>
              <a:t>Быстрый, скорый, моментальный</a:t>
            </a:r>
          </a:p>
          <a:p>
            <a:r>
              <a:rPr lang="ru-RU" dirty="0"/>
              <a:t>Гибкий, универсальный</a:t>
            </a:r>
          </a:p>
          <a:p>
            <a:r>
              <a:rPr lang="ru-RU" dirty="0"/>
              <a:t>Улучшенный, лучший, более быстрый, превосходный, более  качественный</a:t>
            </a:r>
          </a:p>
          <a:p>
            <a:r>
              <a:rPr lang="ru-RU" dirty="0"/>
              <a:t>Включает; включает в себя, но не ограничен этим; и т. д.; и т. п.; такой как, в частности</a:t>
            </a:r>
          </a:p>
          <a:p>
            <a:r>
              <a:rPr lang="ru-RU" dirty="0"/>
              <a:t>В большинстве случаев, обычно, как правило, практически всегда</a:t>
            </a:r>
          </a:p>
          <a:p>
            <a:r>
              <a:rPr lang="ru-RU" dirty="0"/>
              <a:t>Соответствует, равняется, согласуется, представляет то же самое</a:t>
            </a:r>
          </a:p>
          <a:p>
            <a:r>
              <a:rPr lang="ru-RU" dirty="0"/>
              <a:t>Максимизируйте, минимизируйте, оптимизируйте</a:t>
            </a:r>
          </a:p>
          <a:p>
            <a:r>
              <a:rPr lang="ru-RU" dirty="0"/>
              <a:t>Обычно, в идеальном варианте</a:t>
            </a:r>
          </a:p>
          <a:p>
            <a:r>
              <a:rPr lang="ru-RU" dirty="0"/>
              <a:t>Необязательно</a:t>
            </a:r>
          </a:p>
          <a:p>
            <a:r>
              <a:rPr lang="ru-RU" dirty="0"/>
              <a:t>Возможно, желательно</a:t>
            </a:r>
          </a:p>
          <a:p>
            <a:r>
              <a:rPr lang="ru-RU" dirty="0"/>
              <a:t>Разумный, при необходимости, когда уместно, по возможности</a:t>
            </a:r>
          </a:p>
          <a:p>
            <a:r>
              <a:rPr lang="ru-RU" dirty="0"/>
              <a:t>Устойчивый к сбоям</a:t>
            </a:r>
          </a:p>
          <a:p>
            <a:r>
              <a:rPr lang="ru-RU" dirty="0"/>
              <a:t>Цельный, прозрачный, корректный</a:t>
            </a:r>
          </a:p>
          <a:p>
            <a:r>
              <a:rPr lang="ru-RU" dirty="0"/>
              <a:t>Несколько, некоторые, много, немного, множественный</a:t>
            </a:r>
          </a:p>
          <a:p>
            <a:r>
              <a:rPr lang="ru-RU" dirty="0"/>
              <a:t>Не следует</a:t>
            </a:r>
          </a:p>
          <a:p>
            <a:r>
              <a:rPr lang="ru-RU" dirty="0"/>
              <a:t>Современный</a:t>
            </a:r>
          </a:p>
          <a:p>
            <a:r>
              <a:rPr lang="ru-RU" dirty="0"/>
              <a:t>Поддерживает, позволяет</a:t>
            </a:r>
          </a:p>
          <a:p>
            <a:r>
              <a:rPr lang="ru-RU" dirty="0"/>
              <a:t>Дружественный, простой, легкий, интуитивно понятный</a:t>
            </a:r>
          </a:p>
        </p:txBody>
      </p:sp>
      <p:sp>
        <p:nvSpPr>
          <p:cNvPr id="4" name="Номер слайда 3"/>
          <p:cNvSpPr>
            <a:spLocks noGrp="1"/>
          </p:cNvSpPr>
          <p:nvPr>
            <p:ph type="sldNum" sz="quarter" idx="12"/>
          </p:nvPr>
        </p:nvSpPr>
        <p:spPr/>
        <p:txBody>
          <a:bodyPr/>
          <a:lstStyle/>
          <a:p>
            <a:fld id="{1839304A-9F6B-422B-83C1-DE52774CBED0}" type="slidenum">
              <a:rPr lang="ru-RU" smtClean="0"/>
              <a:pPr/>
              <a:t>34</a:t>
            </a:fld>
            <a:endParaRPr lang="ru-RU"/>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a:t>
            </a:r>
          </a:p>
        </p:txBody>
      </p:sp>
      <p:sp>
        <p:nvSpPr>
          <p:cNvPr id="4" name="Номер слайда 3"/>
          <p:cNvSpPr>
            <a:spLocks noGrp="1"/>
          </p:cNvSpPr>
          <p:nvPr>
            <p:ph type="sldNum" sz="quarter" idx="12"/>
          </p:nvPr>
        </p:nvSpPr>
        <p:spPr/>
        <p:txBody>
          <a:bodyPr/>
          <a:lstStyle/>
          <a:p>
            <a:fld id="{1839304A-9F6B-422B-83C1-DE52774CBED0}" type="slidenum">
              <a:rPr lang="ru-RU" smtClean="0"/>
              <a:pPr/>
              <a:t>35</a:t>
            </a:fld>
            <a:endParaRPr lang="ru-RU"/>
          </a:p>
        </p:txBody>
      </p:sp>
      <p:pic>
        <p:nvPicPr>
          <p:cNvPr id="30721" name="Picture 1"/>
          <p:cNvPicPr>
            <a:picLocks noChangeAspect="1" noChangeArrowheads="1"/>
          </p:cNvPicPr>
          <p:nvPr/>
        </p:nvPicPr>
        <p:blipFill>
          <a:blip r:embed="rId2" cstate="print"/>
          <a:srcRect/>
          <a:stretch>
            <a:fillRect/>
          </a:stretch>
        </p:blipFill>
        <p:spPr bwMode="auto">
          <a:xfrm>
            <a:off x="363603" y="1310562"/>
            <a:ext cx="7191375" cy="18669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0722" name="Picture 2"/>
          <p:cNvPicPr>
            <a:picLocks noChangeAspect="1" noChangeArrowheads="1"/>
          </p:cNvPicPr>
          <p:nvPr/>
        </p:nvPicPr>
        <p:blipFill>
          <a:blip r:embed="rId3" cstate="print"/>
          <a:srcRect/>
          <a:stretch>
            <a:fillRect/>
          </a:stretch>
        </p:blipFill>
        <p:spPr bwMode="auto">
          <a:xfrm>
            <a:off x="2188417" y="3510741"/>
            <a:ext cx="7124700" cy="25050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theme/theme1.xml><?xml version="1.0" encoding="utf-8"?>
<a:theme xmlns:a="http://schemas.openxmlformats.org/drawingml/2006/main" name="1_Тема Office">
  <a:themeElements>
    <a:clrScheme name="Презентация на УС">
      <a:dk1>
        <a:sysClr val="windowText" lastClr="000000"/>
      </a:dk1>
      <a:lt1>
        <a:sysClr val="window" lastClr="FFFFFF"/>
      </a:lt1>
      <a:dk2>
        <a:srgbClr val="1F497D"/>
      </a:dk2>
      <a:lt2>
        <a:srgbClr val="EEECE1"/>
      </a:lt2>
      <a:accent1>
        <a:srgbClr val="D99694"/>
      </a:accent1>
      <a:accent2>
        <a:srgbClr val="4F81BD"/>
      </a:accent2>
      <a:accent3>
        <a:srgbClr val="9BBB59"/>
      </a:accent3>
      <a:accent4>
        <a:srgbClr val="8064A2"/>
      </a:accent4>
      <a:accent5>
        <a:srgbClr val="4F81BD"/>
      </a:accent5>
      <a:accent6>
        <a:srgbClr val="F79646"/>
      </a:accent6>
      <a:hlink>
        <a:srgbClr val="0000FF"/>
      </a:hlink>
      <a:folHlink>
        <a:srgbClr val="800080"/>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43655</TotalTime>
  <Words>2816</Words>
  <Application>Microsoft Office PowerPoint</Application>
  <PresentationFormat>Широкоэкранный</PresentationFormat>
  <Paragraphs>227</Paragraphs>
  <Slides>35</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35</vt:i4>
      </vt:variant>
    </vt:vector>
  </HeadingPairs>
  <TitlesOfParts>
    <vt:vector size="40" baseType="lpstr">
      <vt:lpstr>Arial</vt:lpstr>
      <vt:lpstr>Calibri</vt:lpstr>
      <vt:lpstr>Franklin Gothic Book</vt:lpstr>
      <vt:lpstr>Franklin Gothic Medium</vt:lpstr>
      <vt:lpstr>1_Тема Office</vt:lpstr>
      <vt:lpstr>ПРОЕКТИРОВАНИЕ И УПРАВЛЕНИЕ ИС   Сбор требований и моделирование ИС</vt:lpstr>
      <vt:lpstr>Сбор требований и моделирование информационных систем</vt:lpstr>
      <vt:lpstr>Формализация требований</vt:lpstr>
      <vt:lpstr>Описание проблемы</vt:lpstr>
      <vt:lpstr>Иллюстрация проблемы</vt:lpstr>
      <vt:lpstr>Решение проблемы</vt:lpstr>
      <vt:lpstr>Унифицированные подходы к формализации</vt:lpstr>
      <vt:lpstr>Подход 1: Использование шаблонов</vt:lpstr>
      <vt:lpstr>Использование шаблонов: Ограничения</vt:lpstr>
      <vt:lpstr>Подход 2: пошаговое преобразования требований в формальную модель [3]</vt:lpstr>
      <vt:lpstr>Пример реализации алгоритма (интернет-магазин)</vt:lpstr>
      <vt:lpstr>Пример реализации алгоритма (шаг 1)</vt:lpstr>
      <vt:lpstr>Пример реализации алгоритма (шаг 2)</vt:lpstr>
      <vt:lpstr>Пример реализации алгоритма (шаги 3,4)</vt:lpstr>
      <vt:lpstr>Пример реализации алгоритма (шаги 5, 6)</vt:lpstr>
      <vt:lpstr>Пошаговое преобразования требований в формальную модель, выводы</vt:lpstr>
      <vt:lpstr>Подход 3: визуальное моделирование</vt:lpstr>
      <vt:lpstr>Типичные применения прототипов ПО</vt:lpstr>
      <vt:lpstr>Некоторые модели визуального представления</vt:lpstr>
      <vt:lpstr>Соответствие значимых слов требований компонентам моделей анализа</vt:lpstr>
      <vt:lpstr>Выбор наиболее подходящих способов представления</vt:lpstr>
      <vt:lpstr>Выбор наиболее подходящих способов представления</vt:lpstr>
      <vt:lpstr>Требования учебного примера Chemical Tracking System</vt:lpstr>
      <vt:lpstr>Уровень 0 диаграммы потока данных для Chemical Tracking System (с.269[1])</vt:lpstr>
      <vt:lpstr>Диаграмма swimlane процесса в системе Chemical Tracking System (с.273[1])</vt:lpstr>
      <vt:lpstr>Диаграмма переходов состояний для заказа химиката в Chemical Tracking System (с.275[1])</vt:lpstr>
      <vt:lpstr>Таблица состояний заказа химиката в системе Chemical Tracking System (с.277[1])</vt:lpstr>
      <vt:lpstr>Карта диалоговых окон для варианта использования «Заказ химиката» в системе Chemical Tracking System (с.280[1])</vt:lpstr>
      <vt:lpstr>Таблица и дерево решений с логикой, управляющей принятием или отклонением заказа нового химиката в системе Chemical Tracking System (с.283[1])</vt:lpstr>
      <vt:lpstr>Диаграмма «сущность–связь» системы Chemical Tracking System (с.292[1])</vt:lpstr>
      <vt:lpstr>Диаграмма варианта использования системы Chemical Tracking System (с.173[1])</vt:lpstr>
      <vt:lpstr>Ф-модель (цикл работы с требованиями)</vt:lpstr>
      <vt:lpstr>Критерии верификации требований</vt:lpstr>
      <vt:lpstr>Задача – убрать неоднозначные слова и фразы</vt:lpstr>
      <vt:lpstr>Пример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ДПО Спортмастер</dc:title>
  <dc:creator>Лызь Наталья Александровна</dc:creator>
  <cp:lastModifiedBy>Компаниец Виталий Сергеевич</cp:lastModifiedBy>
  <cp:revision>269</cp:revision>
  <dcterms:created xsi:type="dcterms:W3CDTF">2022-10-20T07:59:07Z</dcterms:created>
  <dcterms:modified xsi:type="dcterms:W3CDTF">2025-09-18T10:13:53Z</dcterms:modified>
</cp:coreProperties>
</file>